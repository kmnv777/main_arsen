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" y="216000"/>
            <a:ext cx="3824039" cy="503999"/>
          </a:xfrm>
          <a:prstGeom prst="roundRect">
            <a:avLst>
              <a:gd name="adj" fmla="val 35000"/>
            </a:avLst>
          </a:prstGeom>
          <a:solidFill>
            <a:srgbClr val="354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36000" bIns="360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Текущие результаты анализа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000" y="827999"/>
            <a:ext cx="3824039" cy="58140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DB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2000" rIns="162000" tIns="125999" bIns="125999" wrap="square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Что сделано: обследован ИТ-ландшафт ЭМГ (НГДУ Жылыоймунайгаз, Кайнармунайгаз), собран реестр 19 ИС с протоколами и направлениями обмена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С кем интервьюировали: С. Нуржанова, СП В. Молдабек, владельцы ABAI / ИМ, КЦ КМГ (SAP, АСУНСИ, КХД, AD), ОЦИБ Qazcloud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Поездки: НГДУ Жылыоймунайгаз и Кайнармунайгаз (АСУТП), КУУН / АГЗУ / реклоузеры КОА, НПС-3, SDMO, офисы КЦ КМГ и ЭМГ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Подтверждена гибридная модель: собственный ЦОД + IaaS Qazcloud (VMware); ядро данных — ИС ABAI с IV кв. 2024 (ТБД выведена в архив, сопровождает КМГ Инжиниринг)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Корпоративный контур: SAP ERP + 1С (учёт), Directum (СЭД), SMAX (ITSM с 2023), ArgusPro (GPS с 2025, заменил CityPoint); ИБ — НПА + ОЦИБ Qazcloud 24×7 SLA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Построены сводные схемы (C4, Mermaid, SVG, draw.io): корпоративный ландшафт, фокус ЭМГ–ABAI, ИМ, SAP-хаб, слои ABAI, общий ИТ-ландшафт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Реестр ИС с владельцами / критичностью / SLA — в стадии подготовки; часть материалов передана только в бумажном виде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84039" y="216000"/>
            <a:ext cx="3824039" cy="503999"/>
          </a:xfrm>
          <a:prstGeom prst="roundRect">
            <a:avLst>
              <a:gd name="adj" fmla="val 35000"/>
            </a:avLst>
          </a:prstGeom>
          <a:solidFill>
            <a:srgbClr val="354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36000" bIns="360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Выявленная проблематика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84039" y="827999"/>
            <a:ext cx="3824039" cy="58140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DB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2000" rIns="162000" tIns="125999" bIns="125999"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• Децентрализованная архитектура сбора данных: ESB / API Gateway не внедрена, обмен «точка-точка», реестр потоков и SLA отсутствуют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9+ источников телеметрии (ABAI, Kepware OPC DA, OPC UA, Modbus, SDMO, KTM, WinCC HDA, emg) подключены напрямую к ИМ; параллельно работают 3 контура: ABAI, ИМ/cmv2, АСДЦ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Верхнеуровневая as-is схема расходится с фактом: SMAX внедрён, ТБД в архиве, CityPoint → ArgusPro; дубли (City Point, EAM ×2, KPI ×2, SAP MDM, SCADA ×N, SAP HCM vs 1С 8.2)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• Высокая степень ручного ввода и дублирования данных: модель данных не сформирована, MDM / Data Governance / Data Office отсутствуют, единого владельца НСИ нет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Аналитика живёт во встроенных средствах SAP / 1С / ABAI / Directum — «силосы» без единой версии правды; реестры СИЗ, добычи, нарушений идут XLSX по SMTP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• Отсутствие единой базы данных по осложнениям: в ABAI в продуктиве только 6 отчётных форм из 58, 52 в доработке; ключевые расчётные модули — вспомогательные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Корпоративное КХД на уровне ЭМГ отсутствует — ожидается «сверху» от КЦ КМГ; ABAI развивает внешний подрядчик (КМГ Инжиниринг), ЭМГ не управляет очередью развития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Расхождения SAP ↔ 1С ↔ ABAI ↔ Directum ↔ SCADA ↔ лаборатория не закрываются регулярно → разные версии правды по добыче, фонду скважин, материалам, кадрам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Риски: интеграционный (рост стоимости и техдолга), облачный (DR/BCP, RPO/RTO, OT/IT сегментация не подтверждены), регуляторный (нет автоэкомониторинга), вендорный/санкционный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2078" y="216000"/>
            <a:ext cx="3824039" cy="503999"/>
          </a:xfrm>
          <a:prstGeom prst="roundRect">
            <a:avLst>
              <a:gd name="adj" fmla="val 35000"/>
            </a:avLst>
          </a:prstGeom>
          <a:solidFill>
            <a:srgbClr val="1D1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36000" bIns="360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Текущие рекомендации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2078" y="827999"/>
            <a:ext cx="3824039" cy="58140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DB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2000" rIns="162000" tIns="125999" bIns="125999" wrap="square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Формирование единой платформы-источника данных: свести 3 контура (ABAI / ИМ / АСДЦ) к одной модели данных по скважинам, режимам и ремонтам с RACI «ЭМГ ↔ КМГ Инжиниринг»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Закрыть 52 отчётные формы ABAI, зафиксировать дорожную карту функциональных модулей (ГТМ, подбор ГНО, заводнение, осложнения) со стадиями идея/ТЭО/ТЗ/пилот/проект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Заменить пакетные CSV/XLSX-выгрузки SAP ↔ 1С / FC / Кадры / СИЗ на API через SAP PO / шину; SMTP-рассылки реестров — на дашборды поверх единого хранилища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Выстраивание целевой архитектуры: корпоративный Data Lake поверх КХД КМГ + ESB / API Gateway / iPaaS (SAP PO, WSO2, Kafka, Camel, DataFlow, 1С:Шина); SLA на потоки, реестр интеграций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Приоритетные потоки автоматизации: (1) учёт добычи (скважина/куст/ДНС/мест.), (2) ГТМ и ТКРС, (3) осложнения и подбор ГНО, (4) ТОиР (единая EAM), (5) НСИ и закупки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Закрыть «красные» гэпы: производственное планирование, ЦУМ, моделирование скважины/пласта/нефтесбора, петрофизика, экомониторинг, DLP, внутренний портал (Directum-интеграция)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Усилить инфраструктуру и ИБ: DR-площадка, RPO/RTO, резервное копирование, сегментация OT/IT, SIEM/IAM/PAM/NGFW/EDR/MFA; зафиксировать Shared Responsibility ЭМГ ↔ Qazcloud ↔ ОЦИБ ↔ КМГИ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Унификация НСИ: мастер-система АСУНСИ + Informatica MDM Product 360 — для ДЗО (ЭМГ, ОМГ, КМГИ); единые справочники скважин (КГИС / ArcGIS), оборудования (EAM), материалов, контрагентов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01010"/>
                </a:solidFill>
                <a:latin typeface="Calibri"/>
              </a:rPr>
              <a:t>• Закрыть кадровый контур: определить источник истины между SAP HCM и 1С 8.2 «Зарплата»; внедрить архитектурное управление (архкомитет, ADR, стандарты, KPI), матрица as-is → to-be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