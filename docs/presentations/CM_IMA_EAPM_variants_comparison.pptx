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3366"/>
                </a:solidFill>
                <a:latin typeface="Calibri"/>
              </a:rPr>
              <a:t>Варианты интеграции ЦМ ИМА и ЕАРМ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55555"/>
                </a:solidFill>
                <a:latin typeface="Calibri"/>
              </a:rPr>
              <a:t>Сравнительный анализ архитектуры, плюсов/минусов и трудозатрат (ТРЗ)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Цель и контекст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Обеспечить расчёты моделей ИМА в целевом ландшафте ЕАРМ с учётом данных ТМ, Дата-платформы и DUO Tech ИМА.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Рассмотрены три архитектурных варианта с разной глубиной «приземления» компонентов ЦМ ИМА.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Для вариантов 2 и 3 приведены оценки ТРЗ из бэклогов Excel (листы «Бэклог ЦМ ИМА в ЕАРМ-1» и «ЕАРМ-2»).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1 представлен как целевая концепция без количественной оценки ТРЗ.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Обзор трёх вариантов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1 — перенос функционала ЦМ ИМА в ЕАРМ (целевое решение + песочница для гипотез).</a:t>
            </a:r>
          </a:p>
          <a:p>
            <a:pPr lvl="1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Зелёные потоки — целевое решение; оранжевые — разработка моделей/гипотез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2 — встраивание стека ЦМ ИМА БРД в ЕАРМ (перенос компонент, ЕАРМ-1).</a:t>
            </a:r>
          </a:p>
          <a:p>
            <a:pPr lvl="1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Синие стрелки — перенос ClickHouse, Postgres, Airflow, NiFi, Kafka, Grafana, S3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3 — интеграция с ЦМ ИМА как с отдельной ИТ-системой без приземления (ЕАРМ-2).</a:t>
            </a:r>
          </a:p>
          <a:p>
            <a:pPr lvl="1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ЕАРМ вызывает расчёты через API AirFlow ЦМ ИМА; ТМ — через ЕАРМ ClickHouse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70C0"/>
                </a:solidFill>
                <a:latin typeface="Calibri"/>
              </a:rPr>
              <a:t>Вариант 1. Перенос функционала ЦМ ИМА в ЕАРМ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3366"/>
                </a:solidFill>
                <a:latin typeface="Calibri"/>
              </a:rPr>
              <a:t>Архитектура: целевой перенос функционала</a:t>
            </a:r>
          </a:p>
        </p:txBody>
      </p:sp>
      <p:pic>
        <p:nvPicPr>
          <p:cNvPr id="3" name="Picture 2" descr="variant1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65346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Calibri"/>
              </a:rPr>
              <a:t>Источник: 1-file.feUnSR  |  ТРЗ: не оценивался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Вариант 1 — ключевые особенности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Оркестрация расчётов централизована в Airflow (N1)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Получение валидированной ТМ для расчёта из ClickHouse ЕАРМ; данные с Дата-платформы.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Результаты расчёта сохраняются в Postgres Pro и ClickHouse ЕАРМ; отчётность в ГПН КЦ / ГПН-Заполярье.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MVP-ёмкости ЦМ ИМА используются как песочница для разработки и тестирования моделей (оранжевый контур).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Перенос компонентов из ЦМ ИМА БРД (синий контур) в инфраструктуру ЕАРМ.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Вариант 1 — плюсы и минусы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Единая целевая платформа и единая точка входа для пользователей ДО.</a:t>
            </a:r>
          </a:p>
          <a:p>
            <a:r>
              <a:rPr sz="1400" b="0">
                <a:latin typeface="Calibri"/>
              </a:rPr>
              <a:t>• Централизованное управление данными ТМ, расчётами и результатами.</a:t>
            </a:r>
          </a:p>
          <a:p>
            <a:r>
              <a:rPr sz="1400" b="0">
                <a:latin typeface="Calibri"/>
              </a:rPr>
              <a:t>• Сохранение возможности экспериментов в песочнице без влияния на прод.</a:t>
            </a:r>
          </a:p>
          <a:p>
            <a:r>
              <a:rPr sz="1400" b="0">
                <a:latin typeface="Calibri"/>
              </a:rPr>
              <a:t>• Соответствие целевому ИТ-ландшафту ЕАРМ в долгосрочной перспективе.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Наибольший объём организационных и технических изменений.</a:t>
            </a:r>
          </a:p>
          <a:p>
            <a:r>
              <a:rPr sz="1400" b="0">
                <a:latin typeface="Calibri"/>
              </a:rPr>
              <a:t>• ТРЗ не оценён — требуется отдельная проработка.</a:t>
            </a:r>
          </a:p>
          <a:p>
            <a:r>
              <a:rPr sz="1400" b="0">
                <a:latin typeface="Calibri"/>
              </a:rPr>
              <a:t>• Длительный переходный период с параллельной эксплуатацией контуров.</a:t>
            </a:r>
          </a:p>
          <a:p>
            <a:r>
              <a:rPr sz="1400" b="0">
                <a:latin typeface="Calibri"/>
              </a:rPr>
              <a:t>• Высокая зависимость от готовности всех компонентов ЕАРМ (NiFi, Kafka, S3).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70C0"/>
                </a:solidFill>
                <a:latin typeface="Calibri"/>
              </a:rPr>
              <a:t>Вариант 2. Встраивание ЦМ ИМА в ЕАРМ (ЕАРМ-1)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3366"/>
                </a:solidFill>
                <a:latin typeface="Calibri"/>
              </a:rPr>
              <a:t>Архитектура: встраивание стека ЦМ ИМА БРД</a:t>
            </a:r>
          </a:p>
        </p:txBody>
      </p:sp>
      <p:pic>
        <p:nvPicPr>
          <p:cNvPr id="3" name="Picture 2" descr="variant2_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65346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Calibri"/>
              </a:rPr>
              <a:t>Источник: 2_file.OVCeIx  |  Бэклог: «Бэклог ЦМ ИМА в ЕАРМ-1»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Вариант 2 — ключевые особенности и ТРЗ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Итого ТРЗ: 281,70 ч/д (без риска) / 221,50 ч/д (с риском).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Физический перенос стека: ClickHouse, Postgres Pro, Airflow, NiFi, Kafka, Grafana, S3 →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Переработка DAG-ов Airflow: запуск через API, атомарность данных.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Миграция дампов, реконфигурация стендов, изменение CI/CD.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Обязательный блок: устранение уязвимостей и приведение к КТ-233 (~134 ч/д).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Обновление АКТС, ЕДТ, ТП, ПМТ и пользовательской документации.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Вариант 2 — плюсы и минусы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Полная консолидация инфраструктуры в ЕАРМ — один контур эксплуатации.</a:t>
            </a:r>
          </a:p>
          <a:p>
            <a:r>
              <a:rPr sz="1400" b="0">
                <a:latin typeface="Calibri"/>
              </a:rPr>
              <a:t>• Прямой контроль над данными ТМ через NiFi ЕАРМ (АДКУ → Kafka).</a:t>
            </a:r>
          </a:p>
          <a:p>
            <a:r>
              <a:rPr sz="1400" b="0">
                <a:latin typeface="Calibri"/>
              </a:rPr>
              <a:t>• Grafana и визуализация встраиваются в frontend ЕАРМ.</a:t>
            </a:r>
          </a:p>
          <a:p>
            <a:r>
              <a:rPr sz="1400" b="0">
                <a:latin typeface="Calibri"/>
              </a:rPr>
              <a:t>• Целевые потоки (зелёные) реализуются внутри единого контура.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Максимальные ТРЗ среди оценённых вариантов (~282 ч/д).</a:t>
            </a:r>
          </a:p>
          <a:p>
            <a:r>
              <a:rPr sz="1400" b="0">
                <a:latin typeface="Calibri"/>
              </a:rPr>
              <a:t>• Высокие затраты на миграцию данных и реконфигурацию CI/CD.</a:t>
            </a:r>
          </a:p>
          <a:p>
            <a:r>
              <a:rPr sz="1400" b="0">
                <a:latin typeface="Calibri"/>
              </a:rPr>
              <a:t>• Блок уязвимостей может существенно увеличить срок (до +57 ч/д по отдельным задачам).</a:t>
            </a:r>
          </a:p>
          <a:p>
            <a:r>
              <a:rPr sz="1400" b="0">
                <a:latin typeface="Calibri"/>
              </a:rPr>
              <a:t>• Риски простоя при переносе production-данных и DAG-ов.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Бэклог ЕАРМ-1 — детализация ТРЗ (лист «Бэклог ЦМ ИМА в ЕАРМ-1»)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77240"/>
          <a:ext cx="101498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011680"/>
                <a:gridCol w="5029200"/>
                <a:gridCol w="1371600"/>
                <a:gridCol w="137160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Dag-ов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Запуск через API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8,50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Dag-ов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Атомарность — получение всех данных без ручного csv/json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6,50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Добавление техстека ЦМ ИМА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1,10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интеграций ЦМ ИМА / пересечение с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16,00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Добавление новых интеграций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Увеличение / добавление ресурсов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5,40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Заказ ресурсов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Открытие МСЭ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5,90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Перенос данных/дампов из ЦМ ИМА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8,50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18,10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Реконфигурация стендов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14,80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ЕДТ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13,70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ТП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39,00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ПМТ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29,00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30,60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31,00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32,70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зависимостей, аудиты, резолюции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21,90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Новые требования / замена запрещённых компонент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57,40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Изменения под КТ-233 (ЕДТ)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41,00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56,80</a:t>
                      </a:r>
                    </a:p>
                  </a:txBody>
                  <a:tcPr/>
                </a:tc>
              </a:tr>
              <a:tr h="274320">
                <a:tc gridSpan="3"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281,70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221,50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70C0"/>
                </a:solidFill>
                <a:latin typeface="Calibri"/>
              </a:rPr>
              <a:t>Вариант 3. Интеграция без приземления (ЕАРМ-2)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3366"/>
                </a:solidFill>
                <a:latin typeface="Calibri"/>
              </a:rPr>
              <a:t>Архитектура: ЦМ ИМА как отдельная ИТ-система</a:t>
            </a:r>
          </a:p>
        </p:txBody>
      </p:sp>
      <p:pic>
        <p:nvPicPr>
          <p:cNvPr id="3" name="Picture 2" descr="variant3_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65346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Calibri"/>
              </a:rPr>
              <a:t>Источник: 3_file.ekYFFz  |  Бэклог: «Бэклог ЦМ ИМА в ЕАРМ-2»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Вариант 3 — ключевые особенности и ТРЗ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Итого ТРЗ: 126,60 ч/д (без риска) / 135,50 ч/д (с риском).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ЕАРМ backend вызывает расчёты в Airflow ЦМ ИМА через API.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ЕАРМ NiFi получает сырую ТМ из АДКУ (Kafka); ЦМ ИМА читает валидированную ТМ из ClickHouse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Результаты расчёта возвращаются из ЦМ ИМА в Airflow / ClickHouse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Нет переноса стека и дампов — существенно меньше инфраструктурных работ.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Допущение: DAG-и ЦМ ИМА атомарны и догружают данные вне контракта самостоятельно.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Вариант 3 — плюсы и минусы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Минимальные ТРЗ: ~127 ч/д против ~282 ч/д у варианта 2 (−55%).</a:t>
            </a:r>
          </a:p>
          <a:p>
            <a:r>
              <a:rPr sz="1400" b="0">
                <a:latin typeface="Calibri"/>
              </a:rPr>
              <a:t>• Быстрее выход на целевые интеграционные потоки (зелёные стрелки).</a:t>
            </a:r>
          </a:p>
          <a:p>
            <a:r>
              <a:rPr sz="1400" b="0">
                <a:latin typeface="Calibri"/>
              </a:rPr>
              <a:t>• Сохранение экспертизы и стека ЦМ ИМА без полной миграции.</a:t>
            </a:r>
          </a:p>
          <a:p>
            <a:r>
              <a:rPr sz="1400" b="0">
                <a:latin typeface="Calibri"/>
              </a:rPr>
              <a:t>• Меньше работ по CI/CD, стендам и переносу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Два контура эксплуатации: ЕАРМ + ЦМ ИМА БРД.</a:t>
            </a:r>
          </a:p>
          <a:p>
            <a:r>
              <a:rPr sz="1400" b="0">
                <a:latin typeface="Calibri"/>
              </a:rPr>
              <a:t>• Зависимость от стабильности API-контрактов AirFlow.</a:t>
            </a:r>
          </a:p>
          <a:p>
            <a:r>
              <a:rPr sz="1400" b="0">
                <a:latin typeface="Calibri"/>
              </a:rPr>
              <a:t>• Риск временного МСЭ OKD→DH до перевода ЕАРМ в DH.</a:t>
            </a:r>
          </a:p>
          <a:p>
            <a:r>
              <a:rPr sz="1400" b="0">
                <a:latin typeface="Calibri"/>
              </a:rPr>
              <a:t>• Сложнее единое управление версиями моделей и мониторинг.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Бэклог ЕАРМ-2 — детализация ТРЗ (лист «Бэклог ЦМ ИМА в ЕАРМ-2»)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77240"/>
          <a:ext cx="101498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011680"/>
                <a:gridCol w="5029200"/>
                <a:gridCol w="1371600"/>
                <a:gridCol w="1371600"/>
              </a:tblGrid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endpoint-ов и согласование контрактов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1,30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Формирование наборов данных по контрактам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5,80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интеграций; переход на валидированную ТМ от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16,00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Добавление новых интеграций (зависит от контрактов)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Ресурсы на наборы данных и хранение результатов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Заказ ресурсов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Открытие МСЭ (риск OKD→DH)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5,90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CI/CD, конфигурации и секреты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ЕДТ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13,70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ТП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39,00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ПМТ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22,00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23,20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17,90</a:t>
                      </a:r>
                    </a:p>
                  </a:txBody>
                  <a:tcPr/>
                </a:tc>
              </a:tr>
              <a:tr h="391895">
                <a:tc gridSpan="3"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126,60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135,50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Сводное сравнение вариантов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  <a:gridCol w="3200400"/>
              </a:tblGrid>
              <a:tr h="5892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Вариант 1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(целевой перенос)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Вариант 2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(встраивание, ЕАРМ-1)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Вариант 3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(интеграция, ЕАРМ-2)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Суть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Полный перенос функционала ЦМ ИМА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«Приземление» стека ЦМ ИМА БРД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ЦМ ИМА — отдельная ИТ-система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ТРЗ (без риска)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Не оценивался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281,7 ч/д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126,6 ч/д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ТРЗ (с риском)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Не оценивался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221,5 ч/д*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135,5 ч/д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Единая платформа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Миграция CH, PG, Airflow, NiFi, Kafka,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Минимальные изменения в ЕАРМ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Оркестрация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Airflow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Airflow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Airflow в ЦМ ИМА, вызов из ЕАРМ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Песочница моделей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Да (MVP ЦМ ИМА)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Ограниченно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Сохраняется в ЦМ ИМА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Срок / сложность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Максимальный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Высокий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Умеренный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Риски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Длительная миграция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Перенос данных, уязвимости,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Контракты API, МСЭ OKD→DH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Calibri"/>
              </a:rPr>
              <a:t>* В бэклоге ЕАРМ-1 итог «с риском» ниже «без риска» — проверить методику расчёта рисков в исходном Excel.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3366"/>
                </a:solidFill>
                <a:latin typeface="Calibri"/>
              </a:rPr>
              <a:t>Сводная аналитика: рейтинг вариантов</a:t>
            </a:r>
          </a:p>
        </p:txBody>
      </p:sp>
      <p:pic>
        <p:nvPicPr>
          <p:cNvPr id="3" name="Picture 2" descr="rating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69562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Calibri"/>
              </a:rPr>
              <a:t>Шкала 1–5 по 8 критериям | Взвешенный рейтинг: В1 — 3,8 | В2 — 3,3 | В3 — 3,7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Интерпретация рейтинга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3 лидирует по скорости внедрения и экономичности (126,6 ч/д vs 281,7 ч/д у В2).</a:t>
            </a:r>
          </a:p>
          <a:p>
            <a:pPr lvl="1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★★★★★ — 5 баллов | ★☆☆☆☆ — 1 балл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Варианты 1 и 2 максимальны по консолидации ИТ и соответствию целевой архитектуре.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1 — лучший по гибкости экспертов (песочница MVP) и стратегической ценности.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2 проигрывает по ТРЗ и рискам миграции, но даёт полный перенос стека.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Рекомендуемая траектория: В3 (быстрый старт) → накопление опыта → В1/В2.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Выводы и 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1 задаёт стратегическое направление, но требует отдельной оценки ТРЗ перед принятием решения.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2 (ЕАРМ-1) — полная консолидация, но с максимальными трудозатратами и рисками миграции.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3 (ЕАРМ-2) — оптимален как поэтапный шаг: быстрее, дешевле, с сохранением ЦМ ИМА.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Возможна стратегия: Вариант 3 → накопление опыта интеграции → Вариант 1/2 при готовности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Критично согласовать контракты API AirFlow и источник валидированной ТМ до старта работ.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3366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55555"/>
                </a:solidFill>
                <a:latin typeface="Calibri"/>
              </a:rPr>
              <a:t>Вопросы и обсуждение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