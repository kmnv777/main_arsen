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Варианты интеграции ЦМ ИМА и ЕАРМ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CCDDEE"/>
                </a:solidFill>
                <a:latin typeface="Calibri"/>
              </a:rPr>
              <a:t>Сравнительный анализ архитектуры, трудозатрат и рекомендаций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926080"/>
            <a:ext cx="3931920" cy="2743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Цель и контекст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Обеспечить расчёты моделей ИМА в целевом ландшафте ЕАРМ.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Рассмотрены три архитектурных варианта с разной глубиной интеграции ЦМ ИМА.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ТРЗ вариантов 2 и 3 — из бэклогов Excel (листы ЕАРМ-1 и ЕАРМ-2).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1 — целевая концепция без количественной оценки ТРЗ.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Обзор трёх вариантов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1 — перенос функционала ЦМ ИМА в ЕАРМ (целевое решение + песочница).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Источник: 1-file.feUnSR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2 — встраивание стека ЦМ ИМА БРД в ЕАРМ (ЕАРМ-1).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Источник: 2_file.OVCeIx | ТРЗ: 281,7 ч/д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3 — интеграция с ЦМ ИМА как с отдельной ИТ-системой (ЕАРМ-2).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Источник: 3_file.ekYFFz | ТРЗ: 126,6 ч/д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Вариант 1. Перенос функционала ЦМ ИМА в ЕАРМ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Архитектура: целевой перенос функционала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pic>
        <p:nvPicPr>
          <p:cNvPr id="9" name="Picture 8" descr="variant1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48437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1996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Calibri"/>
              </a:rPr>
              <a:t>Источник: 1-file.feUnSR  |  ТРЗ: не оценивался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1 — ключевые особенности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Оркестрация расчётов в Airflow (N1) ЕАРМ.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Валидированная ТМ из ClickHouse; данные с Дата-платформы.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Результаты в Postgres Pro и ClickHouse; отчётность в ГПН КЦ / Заполярье.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MVP ЦМ ИМА — песочница для разработки моделей.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1 — плюсы и минусы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Единая платформа и точка входа для пользователей ДО.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Централизованное управление ТМ, расчётами и результатами.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Песочница для экспериментов без влияния на прод.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Соответствие целевому ИТ-ландшафту ЕАРМ.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Наибольший объём организационных и технических изменений.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ТРЗ не оценён — требуется отдельная проработка.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Длительный переходный период.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Зависимость от готовности NiFi, Kafka, S3.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Вариант 2. Встраивание ЦМ ИМА в ЕАРМ (ЕАРМ-1)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Архитектура: встраивание стека ЦМ ИМА БРД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pic>
        <p:nvPicPr>
          <p:cNvPr id="9" name="Picture 8" descr="variant2_embed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424793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1996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Calibri"/>
              </a:rPr>
              <a:t>Источник: 2_file.OVCeIx  |  Бэклог: «Бэклог ЦМ ИМА в ЕАРМ-1»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2 — особенности и ТРЗ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Итого ТРЗ: 281,70 ч/д (без риска) / 221,50 ч/д (с риском).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Перенос стека: ClickHouse, Postgres, Airflow, NiFi, Kafka, Grafana, S3.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Переработка DAG-ов: API, атомарность данных.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Миграция дампов, CI/CD, устранение уязвимостей (~134 ч/д).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2 — плюсы и минусы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Полная консолидация — один контур эксплуатации.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Контроль ТМ через NiFi ЕАРМ (АДКУ → Kafka).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Grafana встраивается в frontend ЕАРМ.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Максимальные ТРЗ (~282 ч/д).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Высокие затраты на миграцию и CI/CD.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Риски простоя при переносе production-данных.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Бэклог ЕАРМ-1 — детализация ТРЗ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914400"/>
          <a:ext cx="1014984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1920240"/>
                <a:gridCol w="5120640"/>
                <a:gridCol w="1371600"/>
                <a:gridCol w="1371600"/>
              </a:tblGrid>
              <a:tr h="26289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№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Feature / Задача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Подзадача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ТРЗ без риска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ТРЗ с риском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Dag-ов AirFlow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Запуск через API AirFlow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8,50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Dag-ов AirFlow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Атомарность — получение всех данных без ручного csv/json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6,50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Добавление техстека ЦМ ИМА в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1,10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Анализ интеграций ЦМ ИМА / пересечение с ЕАРМ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15,20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16,00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Добавление новых интеграций в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Увеличение / добавление ресурсов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5,40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Заказ ресурсов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Открытие МСЭ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5,90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Перенос данных/дампов из ЦМ ИМА в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8,50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CI/CD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17,20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18,10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Реконфигурация стендов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14,00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14,80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ЕДТ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13,70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ТП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37,00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39,00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ПМТ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29,00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30,60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Инструкции пользователя/администратора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31,00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32,70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Анализ зависимостей, аудиты, резолюции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17,20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21,90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Новые требования / замена запрещённых компонент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37,00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57,40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Изменения под КТ-233 (ЕДТ)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41,00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56,80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 gridSpan="3"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ИТОГО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281,70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221,50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Вариант 3. Интеграция без приземления (ЕАРМ-2)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Архитектура: ЦМ ИМА как отдельная ИТ-система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pic>
        <p:nvPicPr>
          <p:cNvPr id="9" name="Picture 8" descr="variant3_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1616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1996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Calibri"/>
              </a:rPr>
              <a:t>Источник: 3_file.ekYFFz  |  Бэклог: «Бэклог ЦМ ИМА в ЕАРМ-2»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3 — особенности и ТРЗ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Итого ТРЗ: 126,60 ч/д (без риска) / 135,50 ч/д (с риском).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Вызов расчётов в Airflow ЦМ ИМА через API.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NiFi ЕАРМ получает ТМ из АДКУ; ЦМ ИМА читает валидированную ТМ из ClickHouse ЕАРМ.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Нет переноса стека и дампов.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3 — плюсы и минусы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Минимальные ТРЗ: ~127 ч/д (−55% vs В2).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Быстрый выход на целевые интеграционные потоки.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Сохранение экспертизы и стека ЦМ ИМА.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Два контура эксплуатации.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Зависимость от API-контрактов AirFlow.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Риск МСЭ OKD→DH.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Бэклог ЕАРМ-2 — детализация ТРЗ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914400"/>
          <a:ext cx="1014984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1920240"/>
                <a:gridCol w="5120640"/>
                <a:gridCol w="1371600"/>
                <a:gridCol w="1371600"/>
              </a:tblGrid>
              <a:tr h="375557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№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Feature / Задача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Подзадача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ТРЗ без риска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ТРЗ с риском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Вызов расчётов через API AirFlow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Анализ endpoint-ов и согласование контрактов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1,30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Вызов расчётов через API AirFlow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Формирование наборов данных по контрактам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5,80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Анализ интеграций; переход на валидированную ТМ от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15,20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16,00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Добавление новых интеграций (зависит от контрактов)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Ресурсы на наборы данных и хранение результатов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Заказ ресурсов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Открытие МСЭ (риск OKD→DH)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5,90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CI/CD, конфигурации и секреты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ЕДТ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13,70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ТП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37,00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39,00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ПМТ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22,00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23,20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Инструкции пользователя/администратора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17,00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17,90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9">
                <a:tc gridSpan="3"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ИТОГО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126,60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135,50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Сводное сравнение вариантов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914400"/>
          <a:ext cx="115214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  <a:gridCol w="2880360"/>
                <a:gridCol w="2880360"/>
              </a:tblGrid>
              <a:tr h="5588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Вариант 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Вариант 2 (ЕАРМ-1)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Вариант 3 (ЕАРМ-2)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Суть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Полный перенос функционала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«Приземление» стека ЦМ ИМА БРД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ЦМ ИМА — отдельная система</a:t>
                      </a:r>
                    </a:p>
                  </a:txBody>
                  <a:tcPr anchor="ctr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ТРЗ (без риска)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Не оценивался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281,7 ч/д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126,6 ч/д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ТРЗ (с риском)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Не оценивался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221,5 ч/д*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135,5 ч/д</a:t>
                      </a:r>
                    </a:p>
                  </a:txBody>
                  <a:tcPr anchor="ctr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Единая платформа ЕАРМ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Миграция CH, PG, Airflow, NiFi…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Минимальные изменения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Оркестрация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Airflow в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Airflow в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Airflow в ЦМ ИМА</a:t>
                      </a:r>
                    </a:p>
                  </a:txBody>
                  <a:tcPr anchor="ctr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Песочница моделей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Да (MVP)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Ограниченно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В ЦМ ИМА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Сложность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Максимальная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Высокая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Умеренная</a:t>
                      </a:r>
                    </a:p>
                  </a:txBody>
                  <a:tcPr anchor="ctr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Ключевые риски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Длительная миграция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Перенос данных, уязвимости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API-контракты, МСЭ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60807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* Проверить методику расчёта рисков в исходном Excel (ЕАРМ-1).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Сводная аналитика: рейтинг вариантов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960120"/>
          <a:ext cx="69494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280160"/>
                <a:gridCol w="1280160"/>
                <a:gridCol w="1280160"/>
              </a:tblGrid>
              <a:tr h="44195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В1 — перенос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В2 — ЕАРМ-1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В3 — ЕАРМ-2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Скорость внедрения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C5D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C5D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Экономичность (ТРЗ)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7EB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C5D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Консолидация ИТ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C5D9ED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Целевая архитектура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3A8D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7EB3DD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Управление рисками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C5D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C5D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3A8DC7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Гибкость экспертов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7EB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3A8DC7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Простота сопровождения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3A8D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7EB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C5D9ED"/>
                    </a:solidFill>
                  </a:tcPr>
                </a:tc>
              </a:tr>
              <a:tr h="44196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Интеграция данных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3A8D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3A8DC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5010912"/>
            <a:ext cx="6858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Шкала: 1 — низко  ·  5 — высоко  |  Тёмнее ячейка = выше балл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96012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3366"/>
                </a:solidFill>
                <a:latin typeface="Calibri"/>
              </a:rPr>
              <a:t>Итоговый взвешенный рейтинг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4173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333333"/>
                </a:solidFill>
                <a:latin typeface="Calibri"/>
              </a:rPr>
              <a:t>В1 — целевой перенос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1463040"/>
            <a:ext cx="2926080" cy="201168"/>
          </a:xfrm>
          <a:prstGeom prst="roundRect">
            <a:avLst/>
          </a:prstGeom>
          <a:solidFill>
            <a:srgbClr val="E8EEF4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86800" y="1463040"/>
            <a:ext cx="2113280" cy="201168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0" y="1417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70C0"/>
                </a:solidFill>
                <a:latin typeface="Calibri"/>
              </a:rPr>
              <a:t>3.6/5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075688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333333"/>
                </a:solidFill>
                <a:latin typeface="Calibri"/>
              </a:rPr>
              <a:t>В2 — встраивание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2121408"/>
            <a:ext cx="2926080" cy="201168"/>
          </a:xfrm>
          <a:prstGeom prst="roundRect">
            <a:avLst/>
          </a:prstGeom>
          <a:solidFill>
            <a:srgbClr val="E8EEF4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0" y="2121408"/>
            <a:ext cx="1833676" cy="201168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0" y="20756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67E22"/>
                </a:solidFill>
                <a:latin typeface="Calibri"/>
              </a:rPr>
              <a:t>3.1/5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734056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333333"/>
                </a:solidFill>
                <a:latin typeface="Calibri"/>
              </a:rPr>
              <a:t>В3 — интеграция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0" y="2779776"/>
            <a:ext cx="2926080" cy="201168"/>
          </a:xfrm>
          <a:prstGeom prst="roundRect">
            <a:avLst/>
          </a:prstGeom>
          <a:solidFill>
            <a:srgbClr val="E8EEF4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0" y="2779776"/>
            <a:ext cx="2178304" cy="201168"/>
          </a:xfrm>
          <a:prstGeom prst="roundRect">
            <a:avLst/>
          </a:prstGeom>
          <a:solidFill>
            <a:srgbClr val="1B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0" y="2734056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B7A3A"/>
                </a:solidFill>
                <a:latin typeface="Calibri"/>
              </a:rPr>
              <a:t>3.7/5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352044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3366"/>
                </a:solidFill>
                <a:latin typeface="Calibri"/>
              </a:rPr>
              <a:t>Рекомендуемые сценарии</a:t>
            </a:r>
          </a:p>
          <a:p>
            <a:pPr>
              <a:spcBef>
                <a:spcPts val="400"/>
              </a:spcBef>
            </a:pPr>
            <a:r>
              <a:rPr sz="900" b="0">
                <a:solidFill>
                  <a:srgbClr val="333333"/>
                </a:solidFill>
                <a:latin typeface="Calibri"/>
              </a:rPr>
              <a:t>• Краткосрочный старт → Вариант 3</a:t>
            </a:r>
          </a:p>
          <a:p>
            <a:pPr>
              <a:spcBef>
                <a:spcPts val="400"/>
              </a:spcBef>
            </a:pPr>
            <a:r>
              <a:rPr sz="900" b="0">
                <a:solidFill>
                  <a:srgbClr val="333333"/>
                </a:solidFill>
                <a:latin typeface="Calibri"/>
              </a:rPr>
              <a:t>• Полная консолидация → Вариант 2</a:t>
            </a:r>
          </a:p>
          <a:p>
            <a:pPr>
              <a:spcBef>
                <a:spcPts val="400"/>
              </a:spcBef>
            </a:pPr>
            <a:r>
              <a:rPr sz="900" b="0">
                <a:solidFill>
                  <a:srgbClr val="333333"/>
                </a:solidFill>
                <a:latin typeface="Calibri"/>
              </a:rPr>
              <a:t>• Стратегическая цель → Вариант 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349240"/>
            <a:ext cx="11430000" cy="960120"/>
          </a:xfrm>
          <a:prstGeom prst="roundRect">
            <a:avLst/>
          </a:prstGeom>
          <a:solidFill>
            <a:srgbClr val="E8EEF4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413248"/>
            <a:ext cx="111556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03366"/>
                </a:solidFill>
                <a:latin typeface="Calibri"/>
              </a:rPr>
              <a:t>Источник оценок:  </a:t>
            </a:r>
          </a:p>
          <a:p>
            <a:r>
              <a:rPr sz="800" b="0">
                <a:solidFill>
                  <a:srgbClr val="333333"/>
                </a:solidFill>
                <a:latin typeface="Calibri"/>
              </a:rPr>
              <a:t>Экономичность (ТРЗ) — бэклоги Excel: ЕАРМ-1 = 281,7 ч/д (2_file.OVCeIx), ЕАРМ-2 = 126,6 ч/д (3_file.ekYFFz); В1 — ТРЗ не оценивался, балл 3 (оценочно).  </a:t>
            </a:r>
          </a:p>
          <a:p>
            <a:r>
              <a:rPr sz="800" b="0">
                <a:solidFill>
                  <a:srgbClr val="333333"/>
                </a:solidFill>
                <a:latin typeface="Calibri"/>
              </a:rPr>
              <a:t>Остальные критерии — экспертная оценка схем 1-file.feUnSR / 2_file.OVCeIx / 3_file.ekYFFz (шкала 1–5).  </a:t>
            </a:r>
          </a:p>
          <a:p>
            <a:r>
              <a:rPr sz="800" b="0">
                <a:solidFill>
                  <a:srgbClr val="333333"/>
                </a:solidFill>
                <a:latin typeface="Calibri"/>
              </a:rPr>
              <a:t>Итог = взвешенное среднее (экономичность ×1,5; риски ×1,3; скорость ×1,2; архитектура ×1,2).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Выводы и рекомендации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1 — стратегическое направление; требуется оценка ТРЗ.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2 — полная консолидация с максимальными трудозатратами.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3 — оптимален как поэтапный шаг: быстрее и дешевле.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Рекомендуемая траектория: В3 → накопление опыта → В1/В2.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Критично согласовать API AirFlow и источник валидированной ТМ до старта.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CCDDEE"/>
                </a:solidFill>
                <a:latin typeface="Calibri"/>
              </a:rPr>
              <a:t>Вопросы и обсуждение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926080"/>
            <a:ext cx="3931920" cy="2743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