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36576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9" cy="36576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4063898" cy="36576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492240"/>
            <a:ext cx="4063898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7796" y="6492240"/>
            <a:ext cx="4063899" cy="36576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95247" y="1234440"/>
            <a:ext cx="96012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61007" y="1691640"/>
            <a:ext cx="886968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5247" y="182880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  <a:latin typeface="Calibri"/>
              </a:rPr>
              <a:t>ИТАЛИЯ  ·  ROMA  ·  FIRENZE  ·  VENEZIA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247" y="2377440"/>
            <a:ext cx="96012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800" b="1" i="0">
                <a:solidFill>
                  <a:srgbClr val="0B6E4F"/>
                </a:solidFill>
                <a:latin typeface="Georgia"/>
              </a:rPr>
              <a:t>План путешествия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247" y="356616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 i="1">
                <a:solidFill>
                  <a:srgbClr val="C83E36"/>
                </a:solidFill>
                <a:latin typeface="Georgia"/>
              </a:rPr>
              <a:t>“La dolce vita”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52847" y="4206240"/>
            <a:ext cx="2286000" cy="0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95247" y="43434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2B2B2B"/>
                </a:solidFill>
                <a:latin typeface="Georgia"/>
              </a:rPr>
              <a:t>Арсен  &amp;  Женечка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247" y="489204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 i="1">
                <a:solidFill>
                  <a:srgbClr val="6B6B6B"/>
                </a:solidFill>
                <a:latin typeface="Calibri"/>
              </a:rPr>
              <a:t>7 июня — 20 июня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Авиабилеты — FlyOne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FAF3DC"/>
                </a:solidFill>
                <a:latin typeface="Calibri"/>
              </a:rPr>
              <a:t>Маршрут Санкт-Петербург ⇄ Рим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828800" cy="548640"/>
          </a:xfrm>
          <a:prstGeom prst="roundRect">
            <a:avLst>
              <a:gd name="adj" fmla="val 40000"/>
            </a:avLst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828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✈  FlyOne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2588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Прямые рейсы  ·  багаж и ручная кладь по тарифу  ·  бронирование заранее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5532120" cy="6400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5532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ТУДА  ·  Рейс №1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Санкт-Петербург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LED  ·  Пулково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26080"/>
            <a:ext cx="5486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0" i="0">
                <a:solidFill>
                  <a:srgbClr val="C9A227"/>
                </a:solidFill>
                <a:latin typeface="Calibri"/>
              </a:rPr>
              <a:t>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Рим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375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FCO  ·  Леонардо да Винчи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3886200"/>
            <a:ext cx="4983480" cy="0"/>
          </a:xfrm>
          <a:prstGeom prst="line">
            <a:avLst/>
          </a:prstGeom>
          <a:ln w="12700">
            <a:solidFill>
              <a:srgbClr val="C9A2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40233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6E4F"/>
                </a:solidFill>
                <a:latin typeface="Calibri"/>
              </a:rPr>
              <a:t>ВЫЛЕТ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Georgia"/>
              </a:rPr>
              <a:t>22:00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вс, 7 июня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233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83E36"/>
                </a:solidFill>
                <a:latin typeface="Calibri"/>
              </a:rPr>
              <a:t>ПРИЛЁТ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3434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3600" b="1" i="0">
                <a:solidFill>
                  <a:srgbClr val="2B2B2B"/>
                </a:solidFill>
                <a:latin typeface="Georgia"/>
              </a:rPr>
              <a:t>20:10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292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1">
                <a:solidFill>
                  <a:srgbClr val="6B6B6B"/>
                </a:solidFill>
                <a:latin typeface="Calibri"/>
              </a:rPr>
              <a:t>пн, 8 июня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5532120" cy="594360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7784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1">
                <a:solidFill>
                  <a:srgbClr val="0B6E4F"/>
                </a:solidFill>
                <a:latin typeface="Calibri"/>
              </a:rPr>
              <a:t>В пути  ~ 4 ч 10 мин  (с учётом разницы во времени −1 ч)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05740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3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2057400"/>
            <a:ext cx="5532120" cy="64008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057400"/>
            <a:ext cx="5532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ОБРАТНО  ·  Рейс №2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2608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Рим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37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FCO  ·  Фьюмичино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926080"/>
            <a:ext cx="5486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0" i="0">
                <a:solidFill>
                  <a:srgbClr val="C9A227"/>
                </a:solidFill>
                <a:latin typeface="Calibri"/>
              </a:rPr>
              <a:t>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Санкт-Петербург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33756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LED  ·  Пулково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0" y="3886200"/>
            <a:ext cx="4983480" cy="0"/>
          </a:xfrm>
          <a:prstGeom prst="line">
            <a:avLst/>
          </a:prstGeom>
          <a:ln w="12700">
            <a:solidFill>
              <a:srgbClr val="C9A22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0" y="40233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6E4F"/>
                </a:solidFill>
                <a:latin typeface="Calibri"/>
              </a:rPr>
              <a:t>ВЫЛЕТ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4340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Georgia"/>
              </a:rPr>
              <a:t>11:55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0292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сб, 20 июня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0233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83E36"/>
                </a:solidFill>
                <a:latin typeface="Calibri"/>
              </a:rPr>
              <a:t>ПРИЛЁТ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3434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3600" b="1" i="0">
                <a:solidFill>
                  <a:srgbClr val="2B2B2B"/>
                </a:solidFill>
                <a:latin typeface="Georgia"/>
              </a:rPr>
              <a:t>21:00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50292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 i="1">
                <a:solidFill>
                  <a:srgbClr val="6B6B6B"/>
                </a:solidFill>
                <a:latin typeface="Calibri"/>
              </a:rPr>
              <a:t>вс, 21 июня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5577840"/>
            <a:ext cx="5532120" cy="59436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57784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1">
                <a:solidFill>
                  <a:srgbClr val="C83E36"/>
                </a:solidFill>
                <a:latin typeface="Calibri"/>
              </a:rPr>
              <a:t>В пути  ~ 5 ч 05 мин  (через стыковку  /  с учётом разницы +1 ч)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AF3DC"/>
                </a:solidFill>
                <a:latin typeface="Calibri"/>
              </a:rPr>
              <a:t>Италия 2026  ·  Арсен &amp; Женечка  ·  07.06 — 20.06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FAF3DC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Маршрут: Рим → Флоренция → Венеция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FAF3DC"/>
                </a:solidFill>
                <a:latin typeface="Calibri"/>
              </a:rPr>
              <a:t>12 дней · 3 города · без ранних подъёмов · с сиестой 14:00–16:30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194560"/>
            <a:ext cx="8534095" cy="0"/>
          </a:xfrm>
          <a:prstGeom prst="line">
            <a:avLst/>
          </a:prstGeom>
          <a:ln w="381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554480" y="1920240"/>
            <a:ext cx="548640" cy="548640"/>
          </a:xfrm>
          <a:prstGeom prst="ellipse">
            <a:avLst/>
          </a:prstGeom>
          <a:solidFill>
            <a:srgbClr val="C83E3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C83E36"/>
                </a:solidFill>
                <a:latin typeface="Georgia"/>
              </a:rPr>
              <a:t>Roma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2B2B2B"/>
                </a:solidFill>
                <a:latin typeface="Calibri"/>
              </a:rPr>
              <a:t>8 — 13 июня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B6B6B"/>
                </a:solidFill>
                <a:latin typeface="Calibri"/>
              </a:rPr>
              <a:t>5 ночей</a:t>
            </a:r>
          </a:p>
        </p:txBody>
      </p:sp>
      <p:sp>
        <p:nvSpPr>
          <p:cNvPr id="12" name="Oval 11"/>
          <p:cNvSpPr/>
          <p:nvPr/>
        </p:nvSpPr>
        <p:spPr>
          <a:xfrm>
            <a:off x="5820156" y="1920240"/>
            <a:ext cx="548640" cy="548640"/>
          </a:xfrm>
          <a:prstGeom prst="ellipse">
            <a:avLst/>
          </a:prstGeom>
          <a:solidFill>
            <a:srgbClr val="0B6E4F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2876" y="9144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0B6E4F"/>
                </a:solidFill>
                <a:latin typeface="Georgia"/>
              </a:rPr>
              <a:t>Firenze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876" y="1371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2B2B2B"/>
                </a:solidFill>
                <a:latin typeface="Calibri"/>
              </a:rPr>
              <a:t>13 — 17 июня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2876" y="26517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B6B6B"/>
                </a:solidFill>
                <a:latin typeface="Calibri"/>
              </a:rPr>
              <a:t>4 ночей</a:t>
            </a:r>
          </a:p>
        </p:txBody>
      </p:sp>
      <p:sp>
        <p:nvSpPr>
          <p:cNvPr id="16" name="Oval 15"/>
          <p:cNvSpPr/>
          <p:nvPr/>
        </p:nvSpPr>
        <p:spPr>
          <a:xfrm>
            <a:off x="10088575" y="1920240"/>
            <a:ext cx="548640" cy="548640"/>
          </a:xfrm>
          <a:prstGeom prst="ellipse">
            <a:avLst/>
          </a:prstGeom>
          <a:solidFill>
            <a:srgbClr val="C9A227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1295" y="9144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C9A227"/>
                </a:solidFill>
                <a:latin typeface="Georgia"/>
              </a:rPr>
              <a:t>Venezia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13716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2B2B2B"/>
                </a:solidFill>
                <a:latin typeface="Calibri"/>
              </a:rPr>
              <a:t>17 — 19 июня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26517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B6B6B"/>
                </a:solidFill>
                <a:latin typeface="Calibri"/>
              </a:rPr>
              <a:t>2 ночей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→  19 июня вечером возвращаемся в Рим (ночь у аэропорта),  20 июня — вылет в 11:55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2287" y="36576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3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2287" y="3657600"/>
            <a:ext cx="3657600" cy="50292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287" y="365760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Roma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287" y="420624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Вечный город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607" y="4617720"/>
            <a:ext cx="31089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Колизей и Римский форум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Ватикан и Сикстинская капелла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Пантеон, Треви, Навона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Галерея Боргезе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Трастевере вечером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7047" y="36576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7047" y="3657600"/>
            <a:ext cx="3657600" cy="50292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7047" y="365760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Firenze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047" y="420624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Колыбель Ренессанса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1367" y="4617720"/>
            <a:ext cx="31089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Дуомо и купол Брунеллески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Галерея Уффици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Давид в Академии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Сады Боболи и Палаццо Питти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Понте-Веккьо на закате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807" y="36576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61807" y="3657600"/>
            <a:ext cx="365760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1807" y="3657600"/>
            <a:ext cx="36576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Venezia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1807" y="420624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Город на воде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6127" y="4617720"/>
            <a:ext cx="31089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Площадь и собор Сан-Марко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Дворец дожей и Мост вздохов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Прогулка на гондоле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Острова Мурано и Бурано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•  Каналы Каннареджо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AF3DC"/>
                </a:solidFill>
                <a:latin typeface="Calibri"/>
              </a:rPr>
              <a:t>Италия 2026  ·  Арсен &amp; Женечка  ·  07.06 — 20.06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FAF3DC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Рим · 8 — 13 июня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FAF3DC"/>
                </a:solidFill>
                <a:latin typeface="Calibri"/>
              </a:rPr>
              <a:t>Вечный город · 5 ночей · базируемся в Монти / Прати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AF3DC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☀  Режим дня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188720"/>
            <a:ext cx="8991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Подъём 8:30–9:30, выход после 10:30 — без спешки  ·  Сиеста 14:00–16:30: отдых в отеле, кафе с кондиционером  ·  Активность смещаем на вечер — после 17:00 город оживает  ·  Ужин по-итальянски: после 20:30, бронь в Трастевере обязательна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658368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83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583680" cy="50292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6583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📅  План по дням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73152" cy="51054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328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83E36"/>
                </a:solidFill>
                <a:latin typeface="Calibri"/>
              </a:rPr>
              <a:t>Пн, 8 июня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0720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1 · прибытие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59" y="2532888"/>
            <a:ext cx="4526280" cy="5562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Прилёт в FCO 20:10 → Leonardo Express до Termini → отель → лёгкий ужин в Монти, прогулка к Колизею с подсветкой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8020"/>
            <a:ext cx="73152" cy="51054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805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83E36"/>
                </a:solidFill>
                <a:latin typeface="Calibri"/>
              </a:rPr>
              <a:t>Вт, 9 июня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5490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2 · Античный Рим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59" y="3180588"/>
            <a:ext cx="4526280" cy="5562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Поздний завтрак · 11:00 — Колизей, Палатин, Римский форум (вход по таймслоту) · обед в Монти · 14:30–16:30 сиеста · вечер — Капитолий, виа деи Фори Империали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55720"/>
            <a:ext cx="73152" cy="51054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282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83E36"/>
                </a:solidFill>
                <a:latin typeface="Calibri"/>
              </a:rPr>
              <a:t>Ср, 10 июня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0260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3 · Ватикан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59" y="3828288"/>
            <a:ext cx="4526280" cy="5562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Завтрак не спеша · 11:30 — Музеи Ватикана и Сикстинская капелла (бронь онлайн) · 14:00 — собор Св. Петра · сиеста · ужин в Борго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03420"/>
            <a:ext cx="73152" cy="51054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759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83E36"/>
                </a:solidFill>
                <a:latin typeface="Calibri"/>
              </a:rPr>
              <a:t>Чт, 11 июня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030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4 · сердце города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59" y="4475988"/>
            <a:ext cx="4526280" cy="5562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10:30 Пантеон → Пьяцца Навона → Кампо-деи-Фьори · обед · сиеста · 17:00 — фонтан Треви, Испанская лестница · аперитив на Виа Маргутта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51120"/>
            <a:ext cx="73152" cy="51054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236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83E36"/>
                </a:solidFill>
                <a:latin typeface="Calibri"/>
              </a:rPr>
              <a:t>Пт, 12 июня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9800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5 · Боргезе и Трастевере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59" y="5123688"/>
            <a:ext cx="4526280" cy="5562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11:00 Галерея Боргезе (бронь обязательна) · прогулка по парку Вилла Боргезе · сиеста · вечер в Трастевере (ужин с видом на Санта-Мария)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798820"/>
            <a:ext cx="73152" cy="51054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7713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83E36"/>
                </a:solidFill>
                <a:latin typeface="Calibri"/>
              </a:rPr>
              <a:t>Сб, 13 июня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04570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6 · переезд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59" y="5771388"/>
            <a:ext cx="4526280" cy="5562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Поздний завтрак · 11:50 — поезд Frecciarossa Roma → Firenze (~1 ч 30 мин) · заселение · вечерняя прогулка по Олтрарно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9480" y="1828800"/>
            <a:ext cx="438912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83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9480" y="1828800"/>
            <a:ext cx="4389120" cy="45720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182880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🎟  Билеты и достопримечательности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2377440"/>
            <a:ext cx="4206240" cy="538189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52360" y="241401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Колизей + Форум + Палатин (24h combo)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2706624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брать онлайн заранее, таймслот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2414016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83E36"/>
                </a:solidFill>
                <a:latin typeface="Calibri"/>
              </a:rPr>
              <a:t>€ 18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2988781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Full Experience с ареной и подземельями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3281389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по желанию, дополнительно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988781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83E36"/>
                </a:solidFill>
                <a:latin typeface="Calibri"/>
              </a:rPr>
              <a:t>€ 24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60920" y="3526971"/>
            <a:ext cx="4206240" cy="538189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356354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Музеи Ватикана + Сикстинская капелла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3856155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цена с букинг-сбором, скользящий вход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3563547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83E36"/>
                </a:solidFill>
                <a:latin typeface="Calibri"/>
              </a:rPr>
              <a:t>€ 25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4138313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Собор Св. Петра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4430921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купол ещё € 10 (пешком) / € 15 (лифт)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4138313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83E36"/>
                </a:solidFill>
                <a:latin typeface="Calibri"/>
              </a:rPr>
              <a:t>бесплатно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60920" y="4676502"/>
            <a:ext cx="4206240" cy="538189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52360" y="4713078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Пантеон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60" y="5005686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вход с 2023 года платный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4713078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83E36"/>
                </a:solidFill>
                <a:latin typeface="Calibri"/>
              </a:rPr>
              <a:t>€ 5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52360" y="528784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Галерея Боргезе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5580452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только по предв. брони, 2 часа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5287844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83E36"/>
                </a:solidFill>
                <a:latin typeface="Calibri"/>
              </a:rPr>
              <a:t>€ 15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0920" y="5826034"/>
            <a:ext cx="4206240" cy="538189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52360" y="5862610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Фонтан Треви, Навона, Испанская лестница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52360" y="6155218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лучше вечером, без толпы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2720" y="5862610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83E36"/>
                </a:solidFill>
                <a:latin typeface="Calibri"/>
              </a:rPr>
              <a:t>бесплатно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AF3DC"/>
                </a:solidFill>
                <a:latin typeface="Calibri"/>
              </a:rPr>
              <a:t>Италия 2026  ·  Арсен &amp; Женечка  ·  07.06 — 20.06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FAF3DC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Флоренция · 13 — 17 июня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FAF3DC"/>
                </a:solidFill>
                <a:latin typeface="Calibri"/>
              </a:rPr>
              <a:t>Колыбель Ренессанса · 4 ночи · отель в центре, в шаге от Дуомо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AF3DC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☀  Режим дня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188720"/>
            <a:ext cx="8991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Подъём 9:00, завтрак до 10:30 — гостиничный или в баре  ·  Сиеста 14:00–16:30: жара во Флоренции серьёзная  ·  Билеты в Уффици / Академию / на купол брать ОНЛАЙН за 1–2 мес  ·  Закат — обязательный ритуал на Пьяццале Микеланджело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658368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583680" cy="50292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6583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📅  План по дням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73152" cy="6400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328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6E4F"/>
                </a:solidFill>
                <a:latin typeface="Calibri"/>
              </a:rPr>
              <a:t>Сб, 13 июня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0720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1 · приезд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59" y="2532888"/>
            <a:ext cx="45262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Прибытие из Рима ~13:30 · обед на Меркато Сант’Амброджо · сиеста · вечер: Понте-Веккьо, Пьяцца-делла-Синьория, ужин с видом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37560"/>
            <a:ext cx="73152" cy="6400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1012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6E4F"/>
                </a:solidFill>
                <a:latin typeface="Calibri"/>
              </a:rPr>
              <a:t>Вс, 14 июня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8444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2 · Уффици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59" y="3310128"/>
            <a:ext cx="45262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11:00 — Галерея Уффици (бронь, 2,5–3 ч) · обед · сиеста · 17:30 — Палаццо Веккьо, башня Арнольфо · аперитив на крыше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73152" cy="6400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8736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6E4F"/>
                </a:solidFill>
                <a:latin typeface="Calibri"/>
              </a:rPr>
              <a:t>Пн, 15 июня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6168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3 · Дуомо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59" y="4087368"/>
            <a:ext cx="45262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10:30 Brunelleschi Pass: купол (бронь обязательна, выбираем поздний слот ~12:00), баптистерий, кампанила, музей Опера дель Дуомо · сиеста · вечер на Пьяццале Микеланджело — закат над городом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73152" cy="6400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6460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6E4F"/>
                </a:solidFill>
                <a:latin typeface="Calibri"/>
              </a:rPr>
              <a:t>Вт, 16 июня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3892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4 · Академия и Олтрарно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59" y="4864608"/>
            <a:ext cx="45262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11:00 Галерея Академии — Давид (бронь) · обед в Сан-Лоренцо · сиеста · 17:00 — Палаццо Питти и сады Боболи · ужин в Олтрарно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669280"/>
            <a:ext cx="73152" cy="64008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6E4F"/>
                </a:solidFill>
                <a:latin typeface="Calibri"/>
              </a:rPr>
              <a:t>Ср, 17 июня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1616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5 · переезд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59" y="5641848"/>
            <a:ext cx="45262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Завтрак · 11:25 — Frecciarossa Firenze → Venezia S. Lucia (~2 ч 10 мин) · заселение · ужин в Каннареджо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1828800"/>
            <a:ext cx="438912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69480" y="1828800"/>
            <a:ext cx="4389120" cy="4572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182880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🎟  Билеты и достопримечательности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2377440"/>
            <a:ext cx="4206240" cy="538189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41401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Галерея Уффици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706624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пик-сезон, бронь обязательна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414016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0B6E4F"/>
                </a:solidFill>
                <a:latin typeface="Calibri"/>
              </a:rPr>
              <a:t>€ 25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2988781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Brunelleschi Pass (Дуомо комплекс)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3281389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купол, баптистерий, кампанила, музей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2988781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0B6E4F"/>
                </a:solidFill>
                <a:latin typeface="Calibri"/>
              </a:rPr>
              <a:t>€ 30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20" y="3526971"/>
            <a:ext cx="4206240" cy="538189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356354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Галерея Академии (Давид)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3856155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+ € 4 букинг-сбор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3563547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0B6E4F"/>
                </a:solidFill>
                <a:latin typeface="Calibri"/>
              </a:rPr>
              <a:t>€ 16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4138313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Палаццо Веккьо + башня Арнольфо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430921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comb. музей и башня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138313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0B6E4F"/>
                </a:solidFill>
                <a:latin typeface="Calibri"/>
              </a:rPr>
              <a:t>€ 21,50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60920" y="4676502"/>
            <a:ext cx="4206240" cy="538189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52360" y="4713078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Сады Боболи + Палаццо Питти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5005686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Uffizi+Pitti+Boboli pass — € 38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4713078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0B6E4F"/>
                </a:solidFill>
                <a:latin typeface="Calibri"/>
              </a:rPr>
              <a:t>€ 22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528784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Пьяццале Микеланджело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5580452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лучшее место для заката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5287844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0B6E4F"/>
                </a:solidFill>
                <a:latin typeface="Calibri"/>
              </a:rPr>
              <a:t>бесплатно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826034"/>
            <a:ext cx="4206240" cy="538189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52360" y="5862610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Понте-Веккьо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6155218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вечером без толпы туристов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5862610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0B6E4F"/>
                </a:solidFill>
                <a:latin typeface="Calibri"/>
              </a:rPr>
              <a:t>бесплатно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AF3DC"/>
                </a:solidFill>
                <a:latin typeface="Calibri"/>
              </a:rPr>
              <a:t>Италия 2026  ·  Арсен &amp; Женечка  ·  07.06 — 20.06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FAF3DC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Венеция · 17 — 19 июня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FAF3DC"/>
                </a:solidFill>
                <a:latin typeface="Calibri"/>
              </a:rPr>
              <a:t>Город на воде · 2 ночи · сестьере Сан-Марко или Дорсодуро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94415" cy="502920"/>
          </a:xfrm>
          <a:prstGeom prst="roundRect">
            <a:avLst>
              <a:gd name="adj" fmla="val 30000"/>
            </a:avLst>
          </a:prstGeom>
          <a:solidFill>
            <a:srgbClr val="FAF3DC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☀  Режим дня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188720"/>
            <a:ext cx="899129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Подъём 9:00–9:30 — на Сан-Марко идём после сиесты толп  ·  Сиеста 14:00–16:30: венецианская жара + влажность  ·  Гондолу заказываем у проверенного gondoliere, фикс. цена  ·  20 июня — единственный ранний подъём (~7:30) ради вылета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658368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583680" cy="5029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6583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📅  План по дням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73152" cy="83439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328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Ср, 17 июня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0720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1 · прибытие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59" y="2532888"/>
            <a:ext cx="4526280" cy="8801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Прибытие ~13:35 · вапоретто №1 до Сан-Марко (живописный маршрут по Гранд-каналу) · заселение · сиеста · вечер: пл. Сан-Марко, кафе Florian, ужин у канала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531870"/>
            <a:ext cx="73152" cy="83439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0443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Чт, 18 июня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7875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2 · сердце Венеции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59" y="3504438"/>
            <a:ext cx="4526280" cy="8801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11:00 — собор Сан-Марко (бронь skip-the-line) · 12:30 — Дворец дожей и Мост вздохов · обед · сиеста · 17:00 — гондола (30 мин) по тихим каналам · ужин в Дорсодуро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503420"/>
            <a:ext cx="73152" cy="83439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759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Пт, 19 июня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030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3 · острова + переезд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59" y="4475988"/>
            <a:ext cx="4526280" cy="8801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10:30 — вапоретто на Мурано (стекло) и Бурано (цветные домики) · обед на Бурано · возвращение к 16:00 · 17:25 — Frecciarossa Venezia → Roma Termini (~3 ч 45 мин) · ночёвка у FCO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74970"/>
            <a:ext cx="73152" cy="83439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4753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Сб, 20 июня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2185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День 4 · вылет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59" y="5447538"/>
            <a:ext cx="4526280" cy="8801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Лёгкий завтрак · трансфер в FCO к 9:30 · регистрация · вылет в 11:55 → Санкт-Петербург 21:00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1828800"/>
            <a:ext cx="4389120" cy="466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9480" y="1828800"/>
            <a:ext cx="438912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182880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🎟  Билеты и достопримечательности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2377440"/>
            <a:ext cx="4206240" cy="538189"/>
          </a:xfrm>
          <a:prstGeom prst="rect">
            <a:avLst/>
          </a:prstGeom>
          <a:solidFill>
            <a:srgbClr val="FA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241401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Собор Сан-Марко (skip-the-line)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706624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+ € 7 Pala d’Oro, + € 7 музей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2414016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€ 6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988781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Дворец дожей + Мост вздохов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281389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комбо с Museo Correr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2988781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€ 30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60920" y="3526971"/>
            <a:ext cx="4206240" cy="538189"/>
          </a:xfrm>
          <a:prstGeom prst="rect">
            <a:avLst/>
          </a:prstGeom>
          <a:solidFill>
            <a:srgbClr val="FA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356354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Кампанила Сан-Марко (лифт)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3856155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виды на лагуну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563547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€ 12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4138313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Гондола 30 мин (днём)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4430921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до 5 чел., после 19:00 — € 110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4138313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€ 90 / лодка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4676502"/>
            <a:ext cx="4206240" cy="538189"/>
          </a:xfrm>
          <a:prstGeom prst="rect">
            <a:avLst/>
          </a:prstGeom>
          <a:solidFill>
            <a:srgbClr val="FA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60" y="4713078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Вапоретто 72 часа (ACTV)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5005686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выгоднее единичных билетов €9,50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713078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€ 45 / чел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528784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Мурано + Бурано (вход бесплатный)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580452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только проезд вапоретто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5287844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вход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60920" y="5826034"/>
            <a:ext cx="4206240" cy="538189"/>
          </a:xfrm>
          <a:prstGeom prst="rect">
            <a:avLst/>
          </a:prstGeom>
          <a:solidFill>
            <a:srgbClr val="FA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5862610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Базилика Санта-Мария делла Салюте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6155218"/>
            <a:ext cx="4023360" cy="1907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ризница; сама церковь — бесплатно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5862610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  <a:latin typeface="Calibri"/>
              </a:rPr>
              <a:t>€ 8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AF3DC"/>
                </a:solidFill>
                <a:latin typeface="Calibri"/>
              </a:rPr>
              <a:t>Италия 2026  ·  Арсен &amp; Женечка  ·  07.06 — 20.06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FAF3DC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Сводная стоимость билетов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FAF3DC"/>
                </a:solidFill>
                <a:latin typeface="Calibri"/>
              </a:rPr>
              <a:t>Ориентировочно на двоих, в евро · бронировать заранее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6858000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6858000" cy="50292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6858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🎟  Достопримечательности (на двоих)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6675120" cy="292608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6400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6E4F"/>
                </a:solidFill>
                <a:latin typeface="Calibri"/>
              </a:rPr>
              <a:t>РИМ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7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Колизей + Форум + Палатин (combo)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67127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59735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Музеи Ватикана + Сикстинская капелла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59735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52343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Пантеон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52343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44951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Галерея Боргезе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044951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37559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Купол Св. Петра (по желанию)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337559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30167"/>
            <a:ext cx="6675120" cy="292608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30167"/>
            <a:ext cx="6400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6E4F"/>
                </a:solidFill>
                <a:latin typeface="Calibri"/>
              </a:rPr>
              <a:t>ФЛОРЕНЦИЯ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22775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Галерея Уффици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922775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15383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Brunelleschi Pass (Дуомо)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15383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07991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Галерея Академии — Давид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507991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00599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Палаццо Питти + Боболи (комбо)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00599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093207"/>
            <a:ext cx="6675120" cy="292608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93207"/>
            <a:ext cx="64008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6E4F"/>
                </a:solidFill>
                <a:latin typeface="Calibri"/>
              </a:rPr>
              <a:t>ВЕНЕЦИЯ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85815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Дворец дожей + Сан-Марко skip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385815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678423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Гондола 30 мин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678423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971031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Вапоретто 72h ×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971031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2B2B2B"/>
                </a:solidFill>
                <a:latin typeface="Calibri"/>
              </a:rPr>
              <a:t>€ 90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1280160"/>
            <a:ext cx="40690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83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89520" y="1280160"/>
            <a:ext cx="4069080" cy="457200"/>
          </a:xfrm>
          <a:prstGeom prst="rect">
            <a:avLst/>
          </a:prstGeom>
          <a:solidFill>
            <a:srgbClr val="C8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0" y="1280160"/>
            <a:ext cx="4069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🚄  Поезда Frecciarossa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182880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Roma → Firenze  (13.06, 11:50)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182880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C83E36"/>
                </a:solidFill>
                <a:latin typeface="Calibri"/>
              </a:rPr>
              <a:t>от € 60 /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21945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Firenze → Venezia  (17.06, 11:25)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219456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C83E36"/>
                </a:solidFill>
                <a:latin typeface="Calibri"/>
              </a:rPr>
              <a:t>от € 70 /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25603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Venezia → Roma  (19.06, 17:25)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0" y="25603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C83E36"/>
                </a:solidFill>
                <a:latin typeface="Calibri"/>
              </a:rPr>
              <a:t>от € 100 /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292608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Leonardo Express FCO ⇄ Termini ×2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292608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C83E36"/>
                </a:solidFill>
                <a:latin typeface="Calibri"/>
              </a:rPr>
              <a:t>€ 56 / 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772400" y="3337560"/>
            <a:ext cx="3703320" cy="0"/>
          </a:xfrm>
          <a:prstGeom prst="line">
            <a:avLst/>
          </a:prstGeom>
          <a:ln w="9525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772400" y="3383280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1" i="1">
                <a:solidFill>
                  <a:srgbClr val="2B2B2B"/>
                </a:solidFill>
                <a:latin typeface="Calibri"/>
              </a:rPr>
              <a:t>Итого по транспорту:  ~ € 286 на двоих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89520" y="3886200"/>
            <a:ext cx="4069080" cy="2331720"/>
          </a:xfrm>
          <a:prstGeom prst="roundRect">
            <a:avLst>
              <a:gd name="adj" fmla="val 4000"/>
            </a:avLst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4023360"/>
            <a:ext cx="4069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3DC"/>
                </a:solidFill>
                <a:latin typeface="Calibri"/>
              </a:rPr>
              <a:t>ОРИЕНТИР ПО БИЛЕТАМ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4434840"/>
            <a:ext cx="4069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Georgia"/>
              </a:rPr>
              <a:t>≈ € 870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5349240"/>
            <a:ext cx="4069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AF3DC"/>
                </a:solidFill>
                <a:latin typeface="Calibri"/>
              </a:rPr>
              <a:t>достопр. + транспорт на двоих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5715000"/>
            <a:ext cx="37033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FAF3DC"/>
                </a:solidFill>
                <a:latin typeface="Calibri"/>
              </a:rPr>
              <a:t>* без авиабилетов, отелей и питания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FAF3DC"/>
                </a:solidFill>
                <a:latin typeface="Calibri"/>
              </a:rPr>
              <a:t>Италия 2026  ·  Арсен &amp; Женечка  ·  07.06 — 20.06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FAF3DC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