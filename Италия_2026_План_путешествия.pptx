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36576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63899" cy="36576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4063898" cy="36576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63898" y="6492240"/>
            <a:ext cx="406389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27796" y="6492240"/>
            <a:ext cx="4063899" cy="36576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95247" y="1234440"/>
            <a:ext cx="960120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61007" y="1691640"/>
            <a:ext cx="886968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5247" y="182880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C9A227"/>
                </a:solidFill>
                <a:latin typeface="Calibri"/>
              </a:rPr>
              <a:t>ИТАЛИЯ  ·  ROMA  ·  FIRENZE  ·  VENEZIA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247" y="2377440"/>
            <a:ext cx="96012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6800" b="1" i="0">
                <a:solidFill>
                  <a:srgbClr val="0B6E4F"/>
                </a:solidFill>
                <a:latin typeface="Georgia"/>
              </a:rPr>
              <a:t>План путешествия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247" y="356616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 i="1">
                <a:solidFill>
                  <a:srgbClr val="C83E36"/>
                </a:solidFill>
                <a:latin typeface="Georgia"/>
              </a:rPr>
              <a:t>“La dolce vita”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952847" y="4206240"/>
            <a:ext cx="2286000" cy="0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95247" y="43434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2B2B2B"/>
                </a:solidFill>
                <a:latin typeface="Georgia"/>
              </a:rPr>
              <a:t>Арсен  &amp;  Женечка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247" y="489204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 i="1">
                <a:solidFill>
                  <a:srgbClr val="6B6B6B"/>
                </a:solidFill>
                <a:latin typeface="Calibri"/>
              </a:rPr>
              <a:t>7 июня — 20 июня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Авиабилеты — FlyOne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FAF3DC"/>
                </a:solidFill>
                <a:latin typeface="Calibri"/>
              </a:rPr>
              <a:t>Маршрут Санкт-Петербург ⇄ Рим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828800" cy="548640"/>
          </a:xfrm>
          <a:prstGeom prst="roundRect">
            <a:avLst>
              <a:gd name="adj" fmla="val 40000"/>
            </a:avLst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✈  FlyOne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2588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Calibri"/>
              </a:rPr>
              <a:t>Прямые рейсы  ·  багаж и ручная кладь по тарифу  ·  бронирование заранее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553212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57400"/>
            <a:ext cx="5532120" cy="64008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57400"/>
            <a:ext cx="5532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ТУДА  ·  Рейс №1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2608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B2B2B"/>
                </a:solidFill>
                <a:latin typeface="Calibri"/>
              </a:rPr>
              <a:t>Санкт-Петербург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375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LED  ·  Пулково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926080"/>
            <a:ext cx="54864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0" i="0">
                <a:solidFill>
                  <a:srgbClr val="C9A227"/>
                </a:solidFill>
                <a:latin typeface="Calibri"/>
              </a:rPr>
              <a:t>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926080"/>
            <a:ext cx="2103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600" b="1" i="0">
                <a:solidFill>
                  <a:srgbClr val="2B2B2B"/>
                </a:solidFill>
                <a:latin typeface="Calibri"/>
              </a:rPr>
              <a:t>Рим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337560"/>
            <a:ext cx="2103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0" i="0">
                <a:solidFill>
                  <a:srgbClr val="6B6B6B"/>
                </a:solidFill>
                <a:latin typeface="Calibri"/>
              </a:rPr>
              <a:t>FCO  ·  Леонардо да Винчи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" y="3886200"/>
            <a:ext cx="4983480" cy="0"/>
          </a:xfrm>
          <a:prstGeom prst="line">
            <a:avLst/>
          </a:prstGeom>
          <a:ln w="12700">
            <a:solidFill>
              <a:srgbClr val="C9A22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40233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B6E4F"/>
                </a:solidFill>
                <a:latin typeface="Calibri"/>
              </a:rPr>
              <a:t>ВЫЛЕТ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Georgia"/>
              </a:rPr>
              <a:t>22:00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2920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6B6B6B"/>
                </a:solidFill>
                <a:latin typeface="Calibri"/>
              </a:rPr>
              <a:t>вс, 7 июня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02336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83E36"/>
                </a:solidFill>
                <a:latin typeface="Calibri"/>
              </a:rPr>
              <a:t>ПРИЛЁТ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3434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3600" b="1" i="0">
                <a:solidFill>
                  <a:srgbClr val="2B2B2B"/>
                </a:solidFill>
                <a:latin typeface="Georgia"/>
              </a:rPr>
              <a:t>20:10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0292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0" i="1">
                <a:solidFill>
                  <a:srgbClr val="6B6B6B"/>
                </a:solidFill>
                <a:latin typeface="Calibri"/>
              </a:rPr>
              <a:t>пн, 8 июня 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77840"/>
            <a:ext cx="5532120" cy="594360"/>
          </a:xfrm>
          <a:prstGeom prst="rect">
            <a:avLst/>
          </a:prstGeom>
          <a:solidFill>
            <a:srgbClr val="E8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577840"/>
            <a:ext cx="49834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1">
                <a:solidFill>
                  <a:srgbClr val="0B6E4F"/>
                </a:solidFill>
                <a:latin typeface="Calibri"/>
              </a:rPr>
              <a:t>В пути  ~ 4 ч 10 мин  (с учётом разницы во времени −1 ч)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057400"/>
            <a:ext cx="553212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6480" y="2057400"/>
            <a:ext cx="5532120" cy="64008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2057400"/>
            <a:ext cx="5532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ОБРАТНО  ·  Рейс №2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92608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B2B2B"/>
                </a:solidFill>
                <a:latin typeface="Calibri"/>
              </a:rPr>
              <a:t>Рим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3375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FCO  ·  Фьюмичино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2926080"/>
            <a:ext cx="54864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0" i="0">
                <a:solidFill>
                  <a:srgbClr val="C9A227"/>
                </a:solidFill>
                <a:latin typeface="Calibri"/>
              </a:rPr>
              <a:t>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2926080"/>
            <a:ext cx="2103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600" b="1" i="0">
                <a:solidFill>
                  <a:srgbClr val="2B2B2B"/>
                </a:solidFill>
                <a:latin typeface="Calibri"/>
              </a:rPr>
              <a:t>Санкт-Петербург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337560"/>
            <a:ext cx="2103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0" i="0">
                <a:solidFill>
                  <a:srgbClr val="6B6B6B"/>
                </a:solidFill>
                <a:latin typeface="Calibri"/>
              </a:rPr>
              <a:t>LED  ·  Пулково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400800" y="3886200"/>
            <a:ext cx="4983480" cy="0"/>
          </a:xfrm>
          <a:prstGeom prst="line">
            <a:avLst/>
          </a:prstGeom>
          <a:ln w="12700">
            <a:solidFill>
              <a:srgbClr val="C9A22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400800" y="40233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B6E4F"/>
                </a:solidFill>
                <a:latin typeface="Calibri"/>
              </a:rPr>
              <a:t>ВЫЛЕТ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343400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Georgia"/>
              </a:rPr>
              <a:t>11:55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02920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6B6B6B"/>
                </a:solidFill>
                <a:latin typeface="Calibri"/>
              </a:rPr>
              <a:t>сб, 20 июня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402336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83E36"/>
                </a:solidFill>
                <a:latin typeface="Calibri"/>
              </a:rPr>
              <a:t>ПРИЛЁТ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3434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3600" b="1" i="0">
                <a:solidFill>
                  <a:srgbClr val="2B2B2B"/>
                </a:solidFill>
                <a:latin typeface="Georgia"/>
              </a:rPr>
              <a:t>21:00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50292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0" i="1">
                <a:solidFill>
                  <a:srgbClr val="6B6B6B"/>
                </a:solidFill>
                <a:latin typeface="Calibri"/>
              </a:rPr>
              <a:t>вс, 21 июня 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5577840"/>
            <a:ext cx="5532120" cy="594360"/>
          </a:xfrm>
          <a:prstGeom prst="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577840"/>
            <a:ext cx="49834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1">
                <a:solidFill>
                  <a:srgbClr val="C83E36"/>
                </a:solidFill>
                <a:latin typeface="Calibri"/>
              </a:rPr>
              <a:t>В пути  ~ 5 ч 05 мин  (через стыковку  /  с учётом разницы +1 ч)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Маршрут: Рим → Флоренция → Венеция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FAF3DC"/>
                </a:solidFill>
                <a:latin typeface="Calibri"/>
              </a:rPr>
              <a:t>12 дней · 3 города · без ранних подъёмов · с сиестой 14:00–16:30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2194560"/>
            <a:ext cx="8534095" cy="0"/>
          </a:xfrm>
          <a:prstGeom prst="line">
            <a:avLst/>
          </a:prstGeom>
          <a:ln w="381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554480" y="1920240"/>
            <a:ext cx="548640" cy="548640"/>
          </a:xfrm>
          <a:prstGeom prst="ellipse">
            <a:avLst/>
          </a:prstGeom>
          <a:solidFill>
            <a:srgbClr val="C83E36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91440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C83E36"/>
                </a:solidFill>
                <a:latin typeface="Georgia"/>
              </a:rPr>
              <a:t>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2B2B2B"/>
                </a:solidFill>
                <a:latin typeface="Calibri"/>
              </a:rPr>
              <a:t>8 — 13 июня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6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6B6B6B"/>
                </a:solidFill>
                <a:latin typeface="Calibri"/>
              </a:rPr>
              <a:t>5 ночей</a:t>
            </a:r>
          </a:p>
        </p:txBody>
      </p:sp>
      <p:sp>
        <p:nvSpPr>
          <p:cNvPr id="12" name="Oval 11"/>
          <p:cNvSpPr/>
          <p:nvPr/>
        </p:nvSpPr>
        <p:spPr>
          <a:xfrm>
            <a:off x="5820156" y="1920240"/>
            <a:ext cx="548640" cy="548640"/>
          </a:xfrm>
          <a:prstGeom prst="ellipse">
            <a:avLst/>
          </a:prstGeom>
          <a:solidFill>
            <a:srgbClr val="0B6E4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2876" y="91440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0B6E4F"/>
                </a:solidFill>
                <a:latin typeface="Georgia"/>
              </a:rPr>
              <a:t>Firenze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2876" y="137160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2B2B2B"/>
                </a:solidFill>
                <a:latin typeface="Calibri"/>
              </a:rPr>
              <a:t>13 — 17 июня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2876" y="265176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6B6B6B"/>
                </a:solidFill>
                <a:latin typeface="Calibri"/>
              </a:rPr>
              <a:t>4 ночей</a:t>
            </a:r>
          </a:p>
        </p:txBody>
      </p:sp>
      <p:sp>
        <p:nvSpPr>
          <p:cNvPr id="16" name="Oval 15"/>
          <p:cNvSpPr/>
          <p:nvPr/>
        </p:nvSpPr>
        <p:spPr>
          <a:xfrm>
            <a:off x="10088575" y="1920240"/>
            <a:ext cx="548640" cy="548640"/>
          </a:xfrm>
          <a:prstGeom prst="ellipse">
            <a:avLst/>
          </a:prstGeom>
          <a:solidFill>
            <a:srgbClr val="C9A227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1295" y="91440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Georgia"/>
              </a:rPr>
              <a:t>Venezia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1295" y="137160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2B2B2B"/>
                </a:solidFill>
                <a:latin typeface="Calibri"/>
              </a:rPr>
              <a:t>17 — 19 июня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1295" y="265176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6B6B6B"/>
                </a:solidFill>
                <a:latin typeface="Calibri"/>
              </a:rPr>
              <a:t>2 ночей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5468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→  19 июня вечером возвращаемся в Рим (ночь у аэропорта),  20 июня — вылет в 11:55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2287" y="365760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2287" y="3657600"/>
            <a:ext cx="3657600" cy="50292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2287" y="365760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</a:rPr>
              <a:t>Roma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2287" y="420624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Вечный город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607" y="4617720"/>
            <a:ext cx="31089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Колизей и Римский форум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Ватикан и Сикстинская капелла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Пантеон, Треви, Навона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Галерея Боргезе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Трастевере вечером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67047" y="365760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67047" y="3657600"/>
            <a:ext cx="3657600" cy="50292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047" y="365760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</a:rPr>
              <a:t>Firenze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047" y="420624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Колыбель Ренессанса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1367" y="4617720"/>
            <a:ext cx="31089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Дуомо и купол Брунеллески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Галерея Уффици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Давид в Академии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Сады Боболи и Палаццо Питти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Понте-Веккьо на закате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807" y="365760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61807" y="3657600"/>
            <a:ext cx="3657600" cy="5029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1807" y="365760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</a:rPr>
              <a:t>Venezia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1807" y="420624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Город на воде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617720"/>
            <a:ext cx="31089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Площадь и собор Сан-Марко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Дворец дожей и Мост вздохов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Прогулка на гондоле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Биеннале Arte 2026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•  Каналы Каннареджо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Рим · 8 — 13 июня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FAF3DC"/>
                </a:solidFill>
                <a:latin typeface="Calibri"/>
              </a:rPr>
              <a:t>Вечный город · 5 ночей · базируемся в Монти / Прати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1094415" cy="50292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18872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☀  Режим дня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188720"/>
            <a:ext cx="89912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Подъём 8:30–9:30, выход после 10:30 — без спешки  ·  Сиеста 14:00–16:30: отдых в отеле, кафе с кондиционером  ·  Активность смещаем на вечер — после 17:00 город оживает  ·  Ужин по-итальянски: после 20:30, бронь в Трастевере обязательна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6583680" cy="4663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6583680" cy="50292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6583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📅  План по дням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560320"/>
            <a:ext cx="73152" cy="51054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5328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83E36"/>
                </a:solidFill>
                <a:latin typeface="Calibri"/>
              </a:rPr>
              <a:t>Пн, 8 июня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0720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1 · прибытие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59" y="2532888"/>
            <a:ext cx="4526280" cy="5562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Прилёт в FCO 20:10 → Leonardo Express до Termini → отель → лёгкий ужин в Монти, прогулка к Колизею с подсветкой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08020"/>
            <a:ext cx="73152" cy="51054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1805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83E36"/>
                </a:solidFill>
                <a:latin typeface="Calibri"/>
              </a:rPr>
              <a:t>Вт, 9 июня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5490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2 · Античный Рим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59" y="3180588"/>
            <a:ext cx="4526280" cy="5562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Поздний завтрак · 11:00 — Колизей, Палатин, Римский форум (вход по таймслоту) · обед в Монти · 14:30–16:30 сиеста · вечер — Капитолий, виа деи Фори Империали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855720"/>
            <a:ext cx="73152" cy="51054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282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83E36"/>
                </a:solidFill>
                <a:latin typeface="Calibri"/>
              </a:rPr>
              <a:t>Ср, 10 июня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0260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3 · Ватикан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59" y="3828288"/>
            <a:ext cx="4526280" cy="5562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Завтрак не спеша · 11:30 — Музеи Ватикана и Сикстинская капелла (бронь онлайн) · 14:00 — собор Св. Петра · сиеста · ужин в Борго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503420"/>
            <a:ext cx="73152" cy="51054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4759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83E36"/>
                </a:solidFill>
                <a:latin typeface="Calibri"/>
              </a:rPr>
              <a:t>Чт, 11 июня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75030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4 · сердце города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59" y="4475988"/>
            <a:ext cx="4526280" cy="5562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10:30 Пантеон → Пьяцца Навона → Кампо-деи-Фьори · обед · сиеста · 17:00 — фонтан Треви, Испанская лестница · аперитив на Виа Маргутта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151120"/>
            <a:ext cx="73152" cy="51054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236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83E36"/>
                </a:solidFill>
                <a:latin typeface="Calibri"/>
              </a:rPr>
              <a:t>Пт, 12 июня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39800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5 · Боргезе и Трастевере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59" y="5123688"/>
            <a:ext cx="4526280" cy="5562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11:00 Галерея Боргезе (бронь обязательна) · прогулка по парку Вилла Боргезе · сиеста · вечер в Трастевере (ужин с видом на Санта-Мария)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5798820"/>
            <a:ext cx="73152" cy="51054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7713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83E36"/>
                </a:solidFill>
                <a:latin typeface="Calibri"/>
              </a:rPr>
              <a:t>Сб, 13 июня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604570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6 · переезд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3159" y="5771388"/>
            <a:ext cx="4526280" cy="5562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Поздний завтрак · 11:50 — поезд Frecciarossa Roma → Firenze (~1 ч 30 мин) · заселение · вечерняя прогулка по Олтрарно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69480" y="1828800"/>
            <a:ext cx="4389120" cy="4663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69480" y="1828800"/>
            <a:ext cx="438912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9480" y="1828800"/>
            <a:ext cx="4389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🎟  Билеты и достопримечательности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20" y="2377440"/>
            <a:ext cx="4206240" cy="538189"/>
          </a:xfrm>
          <a:prstGeom prst="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52360" y="2414016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Колизей + Форум + Палатин (24h combo)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52360" y="2706624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брать онлайн заранее, таймслот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0" y="2414016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83E36"/>
                </a:solidFill>
                <a:latin typeface="Calibri"/>
              </a:rPr>
              <a:t>€ 18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2360" y="2988781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Full Experience с ареной и подземельями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3281389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по желанию, дополнительно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2988781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83E36"/>
                </a:solidFill>
                <a:latin typeface="Calibri"/>
              </a:rPr>
              <a:t>€ 24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60920" y="3526971"/>
            <a:ext cx="4206240" cy="538189"/>
          </a:xfrm>
          <a:prstGeom prst="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52360" y="3563547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Музеи Ватикана + Сикстинская капелла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2360" y="3856155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цена с букинг-сбором, скользящий вход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20" y="3563547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83E36"/>
                </a:solidFill>
                <a:latin typeface="Calibri"/>
              </a:rPr>
              <a:t>€ 25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2360" y="4138313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Собор Св. Петра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60" y="4430921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купол ещё € 10 (пешком) / € 15 (лифт)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4138313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83E36"/>
                </a:solidFill>
                <a:latin typeface="Calibri"/>
              </a:rPr>
              <a:t>бесплатно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60920" y="4676502"/>
            <a:ext cx="4206240" cy="538189"/>
          </a:xfrm>
          <a:prstGeom prst="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52360" y="4713078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Пантеон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52360" y="5005686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вход с 2023 года платный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32720" y="4713078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83E36"/>
                </a:solidFill>
                <a:latin typeface="Calibri"/>
              </a:rPr>
              <a:t>€ 5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52360" y="5287844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Галерея Боргезе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52360" y="5580452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только по предв. брони, 2 часа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2720" y="5287844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83E36"/>
                </a:solidFill>
                <a:latin typeface="Calibri"/>
              </a:rPr>
              <a:t>€ 15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60920" y="5826034"/>
            <a:ext cx="4206240" cy="538189"/>
          </a:xfrm>
          <a:prstGeom prst="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52360" y="5862610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Фонтан Треви, Навона, Испанская лестница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52360" y="6155218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лучше вечером, без толпы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5862610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83E36"/>
                </a:solidFill>
                <a:latin typeface="Calibri"/>
              </a:rPr>
              <a:t>бесплатно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РИМ  ·  Достопримечательность 1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🏟  Колизей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Colosseo (Amphitheatrum Flavium) · 70–80 гг. н. э.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Эпоха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Древний Рим, династия Флавиев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Заказчик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Веспасиан · открыт Титом в 80 г.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Размеры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188 × 156 м, высота 48 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Вместимость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~50 000 зрителей, 80 входов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Материал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травертин, туф, кирпич, бетон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Самый большой амфитеатр античного мира был построен на месте осушённого пруда «Золотого дома» Нерона. Веспасиан, основатель династии Флавиев, начал стройку около 72 года, сын Тит открыл её в 80-м играми, длившимися 100 дней.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Здесь устраивали гладиаторские бои (munera), травли диких зверей (venationes) и даже — в первые годы — навмахии: затоплённую арену превращали в озеро для морских сражений. Под полом находились двухуровневые подземелья (hypogeum) с клетками, лифтами и системой блоков.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После падения Рима Колизей служил каменоломней, крепостью семейства Франджипани и христианской святыней — папа Бенедикт XIV в 1749 году освятил его в память о мучениках. Землетрясения XIV века обрушили южную часть; нынешний разрушенный фасад — результат именно этих сейсмических событий.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Название «Колизей» происходит не от размеров здания, а от стоявшей рядом 35-метровой бронзовой статуи Нерона — «колосса», переплавленной в Средние века.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РИМ  ·  Достопримечательность 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🏛  Римский форум и Палатинский холм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Forum Romanum, Palatinus · VIII в. до н. э. — V в. н. э.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Эпоха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Царский, республиканский и имперский Рим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Функция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политический, религиозный и торговый центр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На Палатине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согласно легенде, Ромул основал Рим в 753 г. до н. э.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Знаковое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арка Тита, храм Сатурна, Дом Весталок, дворцы Августа и Домициана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Площадь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~10 га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Форум вырос в долине между Палатинским и Капитолийским холмами и более тысячи лет был сердцем Рима: здесь собирался Сенат в Курии Юлия, ораторы выступали с Ростры, проходили триумфы и похороны императоров.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Палатинский холм — самая аристократическая часть города. От слова «Palatium» произошло само слово «дворец» во многих языках: с Августа здесь жили все императоры. Дом Августа и Дом Ливии хранят великолепные фрески I века до н. э.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После падения империи Форум превратился в коровий выгон Campo Vaccino — в Средние века уровень земли поднялся на 6–8 метров, и колонны заносило мусором. Систематические раскопки начались только в XIX веке и продолжаются по сей день.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Арка Тита (81 г.) изображает захват иерусалимского Храма в 70 году — это древнейшее визуальное свидетельство меноры, и до создания Государства Израиль евреи Рима принципиально не проходили под этой аркой.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РИМ  ·  Достопримечательность 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⛪  Музеи Ватикана и Сикстинская капелла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Musei Vaticani, Cappella Sistina · 1473–1481, потолок 1508–1512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Основание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Папа Сикст IV (капелла), Юлий II (музеи, 1506)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Архитекторы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Джованнино де Дольчи; росписи — Микеланджело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Сикстинская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потолок 1508–1512, «Страшный суд» 1536–1541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Размеры музеев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~7 км маршрута, ~1500 залов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Посещаемость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~7 млн человек в год — крупнейший музей мира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Капелла построена при папе Сиксте IV как домовой храм пап и место конклавов. Микеланджело, считавший себя в первую очередь скульптором, четыре года расписывал потолок лёжа на лесах: 33 × 13 м, более 300 фигур, девять центральных сцен из Книги Бытия — от «Сотворения Адама» до «Опьянения Ноя».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Через четверть века он вернулся, чтобы написать «Страшный суд» на алтарной стене — и это уже был совсем иной Микеланджело: 391 обнажённая фигура, мрачный синий фон ляпис-лазури, апостол Варфоломей со снятой кожей-автопортретом.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Музеи Ватикана объединяют коллекции 26 веков: египетские саркофаги, греческие оригиналы (Лаокоон, Аполлон Бельведерский), Станцы Рафаэля с «Афинской школой», Пинакотека с Караваджо и Леонардо. На конклаве в капелле кардиналы выбирают нового папу — белый дым над Сикстиной означает «Habemus Papam».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Реставрация фресок (1980–1994) сняла трёхвековой слой копоти от свечей — открылись насыщенные цвета, которые многие критики поначалу сочли «слишком яркими и неправильными».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РИМ  ·  Достопримечательность 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✝  Собор Святого Петра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Basilica di San Pietro · 1506–1626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Стиль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Высокое Возрождение и барокко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Архитекторы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Браманте, Рафаэль, Микеланджело, Бернини, Мадерно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Купол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Микеланджело, ⌀ 42 м, высота 136,6 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Площадь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колоннада Бернини, 1656–1667, 284 колонны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Длина нефа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211,5 м — крупнейший христианский храм мира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На этом месте, по преданию, в 64 году н. э. был распят апостол Пётр — над его могилой император Константин в 320-х построил первую базилику. К XV веку она обветшала, и папа Юлий II решил снести её и возвести новую, заложив краеугольный камень в 1506 году.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Стройка длилась 120 лет и сменила полдюжины архитекторов. Браманте задумал крест с равными плечами, Микеланджело уже в 71 год спроектировал гигантский купол, вдохновлённый Дуомо Брунеллески. Карло Мадерно удлинил неф, превратив план в латинский крест, а Бернини обрамил площадь знаменитой эллиптической колоннадой — «руками Церкви, обнимающими мир».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Внутри — «Пьета» 25-летнего Микеланджело (единственная подписанная им работа), бронзовый балдахин Бернини над могилой Петра (29 м, отлит из бронзы Пантеона), «Кафедра святого Петра» в апсиде. Спуск в Ватиканские гроты ведёт к археологически подтверждённой могиле апостола.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Купол собора, на самом деле, не самый высокий в мире, но самый высокий из исторических: по итальянскому правилу с 1626 года ни одно здание Рима не должно быть выше креста Святого Петра — 136,57 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РИМ  ·  Достопримечательность 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○  Пантеон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Pantheon · 118–128 гг. н. э., император Адриан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Эпоха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Древний Рим, II век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Архитектор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приписывается Аполлодору Дамасскому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Купол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⌀ 43,3 м — рекорд бетона до XIX века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Окулюс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круглое отверстие 8,9 м — единственный источник света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С 609 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церковь Санта-Мария-ад-Мартирес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Сначала на этом месте был храм, построенный другом Августа — Марком Випсанием Агриппой (отсюда монументальная надпись на фронтоне «M·AGRIPPA·L·F·COS·TERTIUM·FECIT»). После двух пожаров Адриан полностью перестроил здание около 125 года, сохранив имя Агриппы из скромности.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Пантеон — посвящение «всем богам». Его купол отлит из бетона: чем выше, тем легче становится заполнитель (внизу травертин, выше — пемза). Толщина купола уменьшается с 6,4 м у основания до 1,2 м у окулюса. Внутренняя высота равна диаметру — здание вписано в идеальную сферу.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609 году Папа Бонифаций IV получил здание от византийского императора и переосвятил как церковь — именно поэтому Пантеон уцелел, тогда как другие античные храмы Рима были разобраны на стройматериалы. В нём похоронен Рафаэль, а также короли Виктор Эммануил II и Умберто 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Когда дождь идёт через окулюс, вода уходит через 22 крошечных отверстия в наклонном мраморном полу — древнеримский водоотвод работает безотказно почти 19 веков.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РИМ  ·  Достопримечательность 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🎨  Галерея Боргезе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Galleria Borghese · 1612–1616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Заказчик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кардинал Шипионе Боргезе, племянник папы Павла 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Архитектор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Фламинио Понцио, завершил Джованни Вазанцио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Жемчужины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Бернини: «Аполлон и Дафна», «Похищение Прозерпины», «Давид»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Караваджо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6 шедевров, включая «Юношу с корзиной фруктов»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Регламент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только по бронированию · 2 часа на посещение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Шипионе Боргезе — пожалуй, самый страстный коллекционер раннего барокко: племянник папы использовал родственные связи, чтобы конфисковать картины Кавальере д’Арпино, отнять имение Доменикино, выкупить Караваджо у наследников. Он же стал главным покровителем юного Бернини.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Вилла строилась как загородный «казино» — место досуга, искусства и приёмов. Сегодня в 20 залах развёрнут хронологически выстроенный путь от античных мраморов через шедевры Бернини и Караваджо к Тициану («Любовь земная и небесная»), Рафаэлю, Антонелло да Мессине.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«Аполлон и Дафна» Бернини (1622–1625) — одна из самых поэтичных скульптур мира: момент превращения нимфы в лавр, тончайшие листья из мрамора. Бернини было 24 года. «Похищение Прозерпины» он создал ещё раньше, в 23 — пальцы Плутона буквально вдавлены в мраморное бедро Прозерпины.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Из-за хрупкости фресок и небольших залов вход строго лимитирован: 360 человек в каждый двухчасовой слот. Билеты раскупают за месяц — поэтому бронировать обязательно заранее.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РИМ  ·  Достопримечательность 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⛲  Фонтан Треви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Fontana di Trevi · 1732–1762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Архитектор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Никола Сальви; завершил Джузеппе Паннини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Заказчик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папа Климент XII (конкурс 1730 г.)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Размеры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26,3 м высота, 49,15 м ширина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Источник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акведук Aqua Virgo, 19 г. до н. э., Агриппа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Стиль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позднее римское барокко, рококо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Фонтан — финальная точка одного из древнейших римских акведуков, Aqua Virgo, построенного Агриппой в 19 году до н. э. для его терм. По легенде, акведук получил имя в честь девушки, указавшей римским солдатам источник чистой воды в 13 км от города.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1730 году папа Климент XII объявил конкурс на оформление выхода акведука. Победил Никола Сальви: он встроил фонтан прямо в фасад палаццо Поли. Центральная фигура — Океан на колеснице-раковине, которую тащат два морских коня (один спокойный, другой буйный — символ настроений моря) с тритонами.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Со времён фильма «Сладкая жизнь» Феллини (1960) с Анитой Экберг, купающейся в фонтане, Треви стал главной кинозвездой Рима. Традиция бросать монетку через левое плечо правой рукой обещает возвращение в Рим — ежегодно из фонтана собирают около 1,5 млн евро, которые передают на помощь нуждающимся.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Над водой видны рельефы с легендой о девушке-«Девственнице» (Virgo) и сценой одобрения Агриппой проекта акведука — таким образом классическое барокко рассказывает историю того, что течёт у вас под ногами.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РИМ  ·  Достопримечательность 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✦  Пьяцца Навона и Испанская лестница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Piazza Navona (I в.) · Scalinata di Trinità dei Monti (1723–1725)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Навона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форма стадиона Домициана 86 г. н. э., 240 × 65 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Фонтан рек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Бернини, 1651 — Дунай, Нил, Ганг, Ла-Плата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Сант-Аньезе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церковь Борромини, 1652–1672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Лестница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де Санктис · 135 ступеней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83E36"/>
                </a:solidFill>
                <a:latin typeface="Calibri"/>
              </a:rPr>
              <a:t>Сверху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церковь Тринита-деи-Монти, 1502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Пьяцца Навона повторяет очертания античного стадиона Домициана, где проходили греческие атлетические состязания (отсюда и имя — от греческого «agon»). До XIX века площадь летом затапливали для водных праздников. Сегодня её формируют три фонтана и церковь Сант-Аньезе-ин-Агоне Борромини — главного архитектурного соперника Бернини.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«Фонтан четырёх рек» Бернини в центре площади (1651) — аллегория четырёх частей света: Нил с закрытой головой (его исток тогда не был известен), Ганг с веслом, Дунай с папским гербом и Ла-Плата с горкой монет. Сверху — настоящий древнеегипетский обелиск Домициана.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Испанская лестница (1723–1725) соединяет площадь Испании внизу и церковь Тринита-деи-Монти наверху. Её спроектировал Франческо де Санктис как 135 ступеней с тремя «волнообразными» площадками. У подножия — фонтан Баркачча Пьетро Бернини (отца), стилизованный под полузатонувшую лодку, что напоминает о наводнении Тибра 1598 года.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Знаменитый чайный салон Babington’s у подножия лестницы открыли в 1893 году две англичанки — там до сих пор подают тот же английский чай, что заказывали Байрон, Китс и Гёте, жившие тут же поблизости.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Флоренция · 13 — 17 июня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FAF3DC"/>
                </a:solidFill>
                <a:latin typeface="Calibri"/>
              </a:rPr>
              <a:t>Колыбель Ренессанса · 4 ночи · отель в центре, в шаге от Дуомо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1094415" cy="50292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18872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☀  Режим дня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188720"/>
            <a:ext cx="89912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Подъём 9:00, завтрак до 10:30 — гостиничный или в баре  ·  Сиеста 14:00–16:30: жара во Флоренции серьёзная  ·  Билеты в Уффици / Академию / на купол брать ОНЛАЙН за 1–2 мес  ·  Закат — обязательный ритуал на Пьяццале Микеланджело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6583680" cy="4663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6583680" cy="50292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6583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📅  План по дням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560320"/>
            <a:ext cx="73152" cy="64008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5328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6E4F"/>
                </a:solidFill>
                <a:latin typeface="Calibri"/>
              </a:rPr>
              <a:t>Сб, 13 июня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0720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1 · приезд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59" y="2532888"/>
            <a:ext cx="452628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Прибытие из Рима ~13:30 · обед на Меркато Сант’Амброджо · сиеста · вечер: Понте-Веккьо, Пьяцца-делла-Синьория, ужин с видом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337560"/>
            <a:ext cx="73152" cy="64008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31012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6E4F"/>
                </a:solidFill>
                <a:latin typeface="Calibri"/>
              </a:rPr>
              <a:t>Вс, 14 июня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58444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2 · Уффици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59" y="3310128"/>
            <a:ext cx="452628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11:00 — Галерея Уффици (бронь, 2,5–3 ч) · обед · сиеста · 17:30 — Палаццо Веккьо, башня Арнольфо · аперитив на крыше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114800"/>
            <a:ext cx="73152" cy="64008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8736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6E4F"/>
                </a:solidFill>
                <a:latin typeface="Calibri"/>
              </a:rPr>
              <a:t>Пн, 15 июня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36168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3 · Дуомо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59" y="4087368"/>
            <a:ext cx="452628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10:30 Brunelleschi Pass: купол (бронь обязательна, выбираем поздний слот ~12:00), баптистерий, кампанила, музей Опера дель Дуомо · сиеста · вечер на Пьяццале Микеланджело — закат над городом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892040"/>
            <a:ext cx="73152" cy="64008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6460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6E4F"/>
                </a:solidFill>
                <a:latin typeface="Calibri"/>
              </a:rPr>
              <a:t>Вт, 16 июня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13892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4 · Академия и Олтрарно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59" y="4864608"/>
            <a:ext cx="452628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11:00 Галерея Академии — Давид (бронь) · обед в Сан-Лоренцо · сиеста · 17:00 — Палаццо Питти и сады Боболи · ужин в Олтрарно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669280"/>
            <a:ext cx="73152" cy="64008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6E4F"/>
                </a:solidFill>
                <a:latin typeface="Calibri"/>
              </a:rPr>
              <a:t>Ср, 17 июня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1616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5 · переезд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59" y="5641848"/>
            <a:ext cx="452628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Завтрак · 11:25 — Frecciarossa Firenze → Venezia S. Lucia (~2 ч 10 мин) · заселение · ужин в Каннареджо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69480" y="1828800"/>
            <a:ext cx="4389120" cy="4663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69480" y="1828800"/>
            <a:ext cx="438912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9480" y="1828800"/>
            <a:ext cx="4389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🎟  Билеты и достопримечательности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20" y="2377440"/>
            <a:ext cx="4206240" cy="538189"/>
          </a:xfrm>
          <a:prstGeom prst="rect">
            <a:avLst/>
          </a:prstGeom>
          <a:solidFill>
            <a:srgbClr val="E8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2414016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Галерея Уффици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2706624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пик-сезон, бронь обязательна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2414016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0B6E4F"/>
                </a:solidFill>
                <a:latin typeface="Calibri"/>
              </a:rPr>
              <a:t>€ 25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2988781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Brunelleschi Pass (Дуомо комплекс)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2360" y="3281389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купол, баптистерий, кампанила, музей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2988781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0B6E4F"/>
                </a:solidFill>
                <a:latin typeface="Calibri"/>
              </a:rPr>
              <a:t>€ 30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60920" y="3526971"/>
            <a:ext cx="4206240" cy="538189"/>
          </a:xfrm>
          <a:prstGeom prst="rect">
            <a:avLst/>
          </a:prstGeom>
          <a:solidFill>
            <a:srgbClr val="E8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2360" y="3563547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Галерея Академии (Давид)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3856155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+ € 4 букинг-сбор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3563547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0B6E4F"/>
                </a:solidFill>
                <a:latin typeface="Calibri"/>
              </a:rPr>
              <a:t>€ 16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52360" y="4138313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Палаццо Веккьо + башня Арнольфо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52360" y="4430921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comb. музей и башня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4138313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0B6E4F"/>
                </a:solidFill>
                <a:latin typeface="Calibri"/>
              </a:rPr>
              <a:t>€ 21,50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20" y="4676502"/>
            <a:ext cx="4206240" cy="538189"/>
          </a:xfrm>
          <a:prstGeom prst="rect">
            <a:avLst/>
          </a:prstGeom>
          <a:solidFill>
            <a:srgbClr val="E8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52360" y="4713078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Сады Боболи + Палаццо Питти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60" y="5005686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Uffizi+Pitti+Boboli pass — € 38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4713078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0B6E4F"/>
                </a:solidFill>
                <a:latin typeface="Calibri"/>
              </a:rPr>
              <a:t>€ 22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52360" y="5287844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Пьяццале Микеланджело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5580452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лучшее место для заката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5287844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0B6E4F"/>
                </a:solidFill>
                <a:latin typeface="Calibri"/>
              </a:rPr>
              <a:t>бесплатно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826034"/>
            <a:ext cx="4206240" cy="538189"/>
          </a:xfrm>
          <a:prstGeom prst="rect">
            <a:avLst/>
          </a:prstGeom>
          <a:solidFill>
            <a:srgbClr val="E8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52360" y="5862610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Понте-Веккьо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52360" y="6155218"/>
            <a:ext cx="4023360" cy="1907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вечером без толпы туристов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2720" y="5862610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0B6E4F"/>
                </a:solidFill>
                <a:latin typeface="Calibri"/>
              </a:rPr>
              <a:t>бесплатно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ФЛОРЕНЦИЯ  ·  Достопримечательность 1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✦  Дуомо — Санта-Мария-дель-Фьоре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Cattedrale di Santa Maria del Fiore · 1296–1436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Архитекторы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Арнольфо ди Камбио, купол — Филиппо Брунеллески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Купол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1420–1436 · ⌀ 45,5 м · высота с фонарём 116 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Длина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153 м — 4-й по величине собор Европы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Облицовка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белый мрамор Каррары, зелёный Прато, розовый Маремма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Часы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механические астрономические Уччелло, 1443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Закладка прошла в 1296-м, но к 1418 году собор стоял без купола: никто не знал, как перекрыть пролёт 45 метров без огромных деревянных лесов. Конкурс выиграл ювелир Филиппо Брунеллески, ездивший в Рим изучать Пантеон. Он построил уникальный двухоболочный купол в технике «сельди» — кирпичи укладывались по спирали и держались сами без опор.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Брунеллески изобрёл специальные краны и платформы, организовал кухню прямо на стройке (чтобы рабочие не спускались на обед) и хранил расчёты в тайне. Купол стал символом начала эпохи Возрождения и до сих пор остаётся крупнейшим кирпичным куполом мира.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Внутри — фреска «Страшный суд» Вазари и Цуккари (3600 м²), готическое распятие Лоренцо Монако, бюст Брунеллески у входа. С 463 ступеней между двумя оболочками купола открывается лучший вид на Флоренцию.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Когда Микеланджело проектировал купол собора Святого Петра, он сказал: «Сделаю больше, но не красивее, чем у Брунеллески». В Риме его купол шире на 1,5 м, но флорентийский — выше по мастерству.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ФЛОРЕНЦИЯ  ·  Достопримечательность 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⚜  Баптистерий Сан-Джованни и кампанила Джотто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Battistero · XI–XII вв. · Campanile di Giotto · 1334–1359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Баптистерий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освящён в 1059, романский стиль, 8-угольник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Райские двери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Лоренцо Гиберти, 1425–1452, бронза с позолотой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Мозаики купола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XIII в., 1000 м² — «Страшный суд»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Кампанила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Джотто, продолжили Андреа Пизано и Таленти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Высота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84,7 м · 414 ступеней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Баптистерий — древнейшее здание Флоренции, средневековые горожане считали его перестроенным римским храмом Марса. Сюда крестили всех младенцев города (включая Данте и Макиавелли). У него три бронзовых дверей: южная Андреа Пизано (1336), северная и восточная — Гиберти.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Восточные двери, обращённые к собору, — 10 рельефов на сюжеты Ветхого Завета. Гиберти работал над ними 27 лет. Микеланджело, по преданию, увидев их, воскликнул: «Эти двери достойны быть райскими» — и название прижилось.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Кампанилу спроектировал в 1334 году Джотто, но успел построить только нижний ярус. После его смерти продолжили Андреа Пизано (рельефы на тему «истории человечества») и Франческо Таленти. Узкие готические окна, цветной мрамор и обзорная площадка наверху делают её одной из самых элегантных колоколен Италии.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Подлинники «Райских врат» хранятся в Музее Опера-дель-Дуомо — на здании баптистерия установлена точная копия. Реставрация подлинников заняла 27 лет — столько же, сколько Гиберти их создавал.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ФЛОРЕНЦИЯ  ·  Достопримечательность 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🖼  Галерея Уффици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Galleria degli Uffizi · 1560–1581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Заказчик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Козимо I Медичи, под канцелярии («uffizi»)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Архитектор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Джорджо Вазари; завершил Бернардо Буонталенти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Открыта как музей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1769 — одно из старейших публичных собраний мира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Шедевры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Боттичелли, Леонардо, Микеланджело, Рафаэль, Караваджо, Тициан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Залов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101 · около 2 500 произведений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1560-х герцог Козимо I Медичи поручил Вазари построить здание для 13 магистратур Флоренции — отсюда и название «офисы». Длинное П-образное здание соединило Палаццо Веккьо с Арно. Уже сын Козимо, Франческо I, превратил верхний этаж в Tribuna — первый кабинет редкостей и шедевров.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1737 году Анна Мария Луиза, последняя из Медичи, заключила «Семейный пакт»: всё художественное наследие династии остаётся во Флоренции навечно и не может быть вывезено. Благодаря этому документу сегодня мы видим коллекцию во всей полноте.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Главные сокровища — «Рождение Венеры» и «Весна» Боттичелли, «Благовещение» и «Поклонение волхвов» Леонардо, «Мадонна Дони» Микеланджело (его единственная станковая работа), «Венера Урбинская» Тициана, «Юный Вакх» и «Медуза» Караваджо.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По коридорам Уффици можно пройти через Понте-Веккьо до самого Палаццо Питти — это «Коридор Вазари», секретный проход длиной около километра, по которому Медичи передвигались, не выходя на улицу.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ФЛОРЕНЦИЯ  ·  Достопримечательность 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𓀀  Галерея Академии — Давид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Galleria dell’Accademia · «Давид» Микеланджело, 1501–1504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Размер «Давида»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5,17 м (с пьедесталом 5,49)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Материал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единый блок каррарского мрамора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Возраст автора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26–29 лет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Изначально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стоял у Палаццо Веккьо до 1873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Также в музее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«Узники» (Prigioni) и «Святой Матфей» Микеланджело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Огромный блок мрамора простоял заброшенным 25 лет: за него брались Агостино ди Дуччо и Антонио Россселино, но оставляли — слишком вытянутый, с трещинами. В 1501 году Микеланджело принял вызов и за два с половиной года высек из него библейского Давида, готовящегося к битве с Голиафом.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Это первая монументальная обнажённая статуя со времён античности. Микеланджело изобразил не победителя с головой Голиафа, как это делали Донателло и Верроккьо, а юношу в момент решимости — с непропорционально большими руками и головой, рассчитанными на взгляд снизу.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До 1873 года скульптура стояла под открытым небом на Пьяцце-делла-Синьория. Чтобы спасти её от непогоды, Давида перенесли в Академию, под специально спроектированный купол с верхним светом. Сегодня к нему ведёт галерея с «Узниками» — будто скульптуры пытаются выйти из мрамора.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При перевозке в 1873 году статую везли 4 дня по специально проложенным рельсам через 800 метров улиц Флоренции — одна из самых дорогих логистических операций XIX века.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ФЛОРЕНЦИЯ  ·  Достопримечательность 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🏰  Палаццо Веккьо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Palazzo Vecchio · 1299–1314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Архитектор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Арнольфо ди Камбио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Башня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Torre di Arnolfo, 94 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Зал Пятисот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53 × 22 м, фрески Вазари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Резиденции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Синьория, Медичи (с 1540), сейчас — мэрия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На площади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копия «Давида», «Похищение сабинянок» Джамболоньи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Палаццо Веккьо построен на руинах амфитеатра — отсюда его слегка асимметричный план. С первого дня это была резиденция Синьории — высшего органа Флорентийской республики. Зубчатая башня, поставленная не по центру, символизировала независимость от соседнего собора.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1540 году Козимо I Медичи перенёс сюда свой двор и поручил Вазари перестроить интерьеры. Так появился Зал Пятисот, расписанный сценами побед Флоренции, и роскошные апартаменты Элеоноры Толедской. Здесь же — «Гений Победы» Микеланджело и «Юдифь и Олоферн» Донателло.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Зале Пятисот по легенде существует фреска «Битва при Ангиари» Леонардо да Винчи, скрытая под фреской Вазари — поиски «утерянного Леонардо» с помощью эндоскопов и нейтронных пушек ведутся до сих пор. Башня доступна для подъёма (233 ступени) — оттуда открывается обзор всей Флоренции.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Часы на башне идут с 1353 года (механизм с обновлениями) — это одни из старейших публичных часов Италии. И ходят весьма точно.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ФЛОРЕНЦИЯ  ·  Достопримечательность 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🌿  Палаццо Питти и сады Боболи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Palazzo Pitti · 1458 · Giardini di Boboli · с 1549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Заказчик дворца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Лука Питти, банкир-соперник Медичи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С 1549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куплен Элеонорой Толедской, резиденция Медичи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Длина фасада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205 м, сплошной рустик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Сады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Триболо, Аммаанати, Буонталенти — 45 000 м²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Сегодня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5 музеев — Палатинская галерея, апартаменты, костюмы, фарфор, серебро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Лука Питти заказал дворец, чтобы превзойти Медичи — фасад нарочито грубый, с гигантскими блоками. Но банк Питти разорился, и в 1549 году вдова Козимо I Элеонора Толедская купила дом за 9 000 флоринов. С тех пор и до объединения Италии (1865) Палаццо Питти было главной резиденцией флорентийских правителей: Медичи, Лотарингских, Савойских.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Сады Боболи — образцовый итальянский сад: чёткая ось «амфитеатр – обелиск – нептунов фонтан – статуя Изобилия», тенистые аллеи, гроты Буонталенти с раковинами и сталактитами, кипарисовая аллея Vottolone. Внутри грота когда-то стояли «Узники» Микеланджело — теперь там копии.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Палатинская галерея сохраняет уникальную «княжескую» развеску XVII века: картины висят рядами от пола до потолка, по принципу красоты, а не школы. Здесь больше всего работ Рафаэля в одной экспозиции в мире — 11 шедевров, включая «Мадонну в кресле» и «Беременную».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Из садов Боболи Медичи попадали во дворец и далее по Коридору Вазари через Понте-Веккьо в Уффици и Палаццо Веккьо — целая «секретная» система сообщения над городом.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ФЛОРЕНЦИЯ  ·  Достопримечательность 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🌉  Понте-Веккьо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Ponte Vecchio · 1345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Архитектор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Таддео Гадди (приписывается)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Длина / пролёты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84 м, три арки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Лавки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с 1593 — только золотых дел мастера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Коридор Вазари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1565, 760 м, надстройка над мостом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Уцелел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единственный мост Флоренции, сохранённый в 1944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Мост на этом месте был ещё в римские времена — здесь Cassia пересекала Арно. Нынешний построен в 1345 году после катастрофического наводнения. Лавки на нём изначально занимали мясники и кожевники: с моста удобно было сбрасывать отходы в реку.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1565 году по случаю свадьбы Франческо I Медичи и Иоанны Австрийской Вазари за пять месяцев надстроил над мостом Коридор — закрытый проход от Палаццо Веккьо через Уффици и Понте-Веккьо до Палаццо Питти. Чтобы герцог не страдал от запаха мясных лавок, Фердинандо I в 1593 году указом изгнал мясников и заменил их на ювелиров.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августе 1944-го отступающие немцы взорвали все мосты Флоренции, кроме Понте-Веккьо: по легенде, приказ исходил лично от Гитлера, считавшего его слишком красивым. Чтобы заблокировать переправу, немцы разрушили средневековые улицы у обоих концов моста.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Бюст Бенвенуто Челлини в центре моста (1900) — дань главному ювелиру Флоренции; туристы вешают тут «замочки любви», от которых каждые несколько лет приходится спасать перила.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ФЛОРЕНЦИЯ  ·  Достопримечательность 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🌅  Пьяццале Микеланджело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Piazzale Michelangelo · 1869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Архитектор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Джузеппе Поджи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Повод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Флоренция — временная столица Италии (1865–1870)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Высота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104 м над уровнем моря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В центре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бронзовая копия «Давида» (1873)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B6E4F"/>
                </a:solidFill>
                <a:latin typeface="Calibri"/>
              </a:rPr>
              <a:t>Рядом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Сан-Миниато-аль-Монте — церковь XI века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Когда в 1865 году Флоренция стала временной столицей объединённой Италии, архитектор Джузеппе Поджи получил масштабный заказ — спроектировать «бульвары» вокруг города по парижской модели Османа и облагородить южный холм Сан-Миниато. Так появился Пьяццале Микеланджело — обзорная терраса, открытая в 1869 году.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центре площадки — бронзовая копия Давида, окружённая копиями четырёх аллегорий капеллы Медичи (Утро, День, Вечер, Ночь). Поджи задумывал здесь и музей Микеланджело, но он так и не был построен — нынешнее «Лоджия» внизу превратилась в ресторан.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С Пьяццале — лучший вид Флоренции: купол Брунеллески прямо по центру, башня Палаццо Веккьо и кампанила Джотто слева, изгиб Арно с Понте-Веккьо. Особенно на закате — итальянцы называют этот свет «la luce del Rinascimento».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К Пьяццале лучше подниматься пешком по «Розовому саду» (Giardino delle Rose) — бесплатно, тенисто и красиво. Спуск — мимо церкви Сан-Миниато-аль-Монте с её полосатым романским фасадом 1018 года.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Венеция · 17 — 19 июня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FAF3DC"/>
                </a:solidFill>
                <a:latin typeface="Calibri"/>
              </a:rPr>
              <a:t>Город на воде · 2 ночи · сестьере Сан-Марко или Дорсодуро · Биеннале Arte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1094415" cy="50292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18872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☀  Режим дня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188720"/>
            <a:ext cx="89912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Подъём 9:00–9:30 — на Сан-Марко идём после открытия толп  ·  Сиеста 14:00–16:30: венецианская жара + влажность  ·  Биеннале вт-вс, 11:00–19:00 (по пт до 20:00) — 19.06 пятница  ·  20 июня — единственный ранний подъём (~7:30) ради вылета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6583680" cy="4663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6583680" cy="5029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6583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📅  План по дням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560320"/>
            <a:ext cx="73152" cy="83439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5328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Ср, 17 июня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0720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1 · прибытие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59" y="2532888"/>
            <a:ext cx="4526280" cy="88011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Прибытие ~13:35 · вапоретто №1 до Сан-Марко (живописный маршрут по Гранд-каналу) · заселение · сиеста · вечер: пл. Сан-Марко, кафе Florian, ужин у канала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531870"/>
            <a:ext cx="73152" cy="83439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0443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Чт, 18 июня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7875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2 · сердце Венеции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59" y="3504438"/>
            <a:ext cx="4526280" cy="88011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11:00 — собор Сан-Марко (skip-the-line) · 12:30 — Дворец дожей и Мост вздохов · 14:00 обед · сиеста · 17:00 — Кампанила Сан-Марко · 18:00 — гондола (30 мин) по тихим каналам · ужин в Дорсодуро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03420"/>
            <a:ext cx="73152" cy="83439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759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Пт, 19 июня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5030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3 · Биеннале + переезд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59" y="4475988"/>
            <a:ext cx="4526280" cy="88011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10:30 — Биеннале Arte 2026 в Arsenale (длинные галереи Кордерие) · 13:00 обед в кафе биеннале · 14:30 — Giardini, национальные павильоны (90+ стран) · 16:30 — vaporetto до Санта-Лючии · 17:25 — Frecciarossa Venezia → Roma Termini (~3 ч 45 мин) · ночёвка у FCO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474970"/>
            <a:ext cx="73152" cy="83439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44753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Сб, 20 июня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72185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День 4 · вылет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59" y="5447538"/>
            <a:ext cx="4526280" cy="88011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Лёгкий завтрак · трансфер в FCO к 9:30 · регистрация · вылет в 11:55 → Санкт-Петербург 21:00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69480" y="1828800"/>
            <a:ext cx="4389120" cy="4663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69480" y="1828800"/>
            <a:ext cx="438912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69480" y="1828800"/>
            <a:ext cx="4389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🎟  Билеты и достопримечательности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60920" y="2377440"/>
            <a:ext cx="4206240" cy="466344"/>
          </a:xfrm>
          <a:prstGeom prst="rect">
            <a:avLst/>
          </a:prstGeom>
          <a:solidFill>
            <a:srgbClr val="FA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2360" y="2414016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Биеннале Arte 2026 (Giardini + Arsenale)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2706624"/>
            <a:ext cx="4023360" cy="1188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61-я Международная выставка, единый билет на 2 локации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2414016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9A227"/>
                </a:solidFill>
                <a:latin typeface="Calibri"/>
              </a:rPr>
              <a:t>€ 30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16936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Собор Сан-Марко (skip-the-line)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3209544"/>
            <a:ext cx="4023360" cy="1188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+ € 7 Pala d’Oro, + € 7 музей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2916936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9A227"/>
                </a:solidFill>
                <a:latin typeface="Calibri"/>
              </a:rPr>
              <a:t>€ 6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60920" y="3383280"/>
            <a:ext cx="4206240" cy="466344"/>
          </a:xfrm>
          <a:prstGeom prst="rect">
            <a:avLst/>
          </a:prstGeom>
          <a:solidFill>
            <a:srgbClr val="FA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52360" y="3419856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Дворец дожей + Мост вздохов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2360" y="3712464"/>
            <a:ext cx="4023360" cy="1188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комбо с Museo Correr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419856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9A227"/>
                </a:solidFill>
                <a:latin typeface="Calibri"/>
              </a:rPr>
              <a:t>€ 30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2360" y="3922776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Кампанила Сан-Марко (лифт)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2360" y="4215384"/>
            <a:ext cx="4023360" cy="1188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виды на лагуну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3922776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9A227"/>
                </a:solidFill>
                <a:latin typeface="Calibri"/>
              </a:rPr>
              <a:t>€ 12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60920" y="4389120"/>
            <a:ext cx="4206240" cy="466344"/>
          </a:xfrm>
          <a:prstGeom prst="rect">
            <a:avLst/>
          </a:prstGeom>
          <a:solidFill>
            <a:srgbClr val="FA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52360" y="4425696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Гондола 30 мин (днём)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52360" y="4718304"/>
            <a:ext cx="4023360" cy="1188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до 5 чел., после 19:00 — € 110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4425696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9A227"/>
                </a:solidFill>
                <a:latin typeface="Calibri"/>
              </a:rPr>
              <a:t>€ 90 / лодка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4928616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Вапоретто 72 часа (ACTV)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2360" y="5221224"/>
            <a:ext cx="4023360" cy="1188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выгоднее единичных билетов € 9,50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4928616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9A227"/>
                </a:solidFill>
                <a:latin typeface="Calibri"/>
              </a:rPr>
              <a:t>€ 45 / чел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60920" y="5394960"/>
            <a:ext cx="4206240" cy="466344"/>
          </a:xfrm>
          <a:prstGeom prst="rect">
            <a:avLst/>
          </a:prstGeom>
          <a:solidFill>
            <a:srgbClr val="FA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52360" y="5431536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Мурано + Бурано (по желанию)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5724144"/>
            <a:ext cx="4023360" cy="1188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вход бесплатный, только проезд вапоретто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5431536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9A227"/>
                </a:solidFill>
                <a:latin typeface="Calibri"/>
              </a:rPr>
              <a:t>вход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52360" y="5934456"/>
            <a:ext cx="2971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Базилика Санта-Мария делла Салюте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52360" y="6227064"/>
            <a:ext cx="4023360" cy="1188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6B6B"/>
                </a:solidFill>
                <a:latin typeface="Calibri"/>
              </a:rPr>
              <a:t>ризница; сама церковь — бесплатно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32720" y="5934456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C9A227"/>
                </a:solidFill>
                <a:latin typeface="Calibri"/>
              </a:rPr>
              <a:t>€ 8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ВЕНЕЦИЯ  ·  Достопримечательность 1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✪  Собор Сан-Марко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Basilica di San Marco · 829–1094 (нынешняя — с 1063)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Стиль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византийский с готическими и ренессансными добавлениями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Купола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5 крупных, по образцу храма Апостолов в Константинополе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Мозаики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8000 м², от XI до XIX вв., золото-смальта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Pala d’Oro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1102–1342: 1927 драгоценных камня, 187 эмалей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Бронзовые кони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греческие оригиналы IV в. до н. э., из Константинополя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828 году два венецианских купца выкрали из Александрии мощи апостола Марка, спрятав их в свинине, которую мусульмане-стражники не стали проверять. Над святыней дож Юстиниан построил первую базилику; нынешняя — третья по счёту, освящена в 1094-м.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Сан-Марко — главный «военный трофей» Венеции: после захвата Константинополя в 1204 году крестоносцы под командованием венецианского дожа Дандоло вывезли в собор всё ценное, включая знаменитых бронзовых коней (на фасаде сейчас копии, оригиналы — в музее наверху).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Внутри 8000 м² мозаик образуют «золотую коробку» — отсюда прозвище «Chiesa d’Oro». Pala d’Oro за главным алтарём — золотой ретабль, набираемый и дополнявшийся 250 лет: в нём 1927 драгоценных и полудрагоценных камней. До 1807 года Сан-Марко был не главным храмом Венеции, а домовой капеллой дожа: патриарх сидел в Сан-Пьетро-ди-Кастелло.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Полы собора — мозаика XII века с геометрическими узорами и животными — со временем «поплыли»: грунт под собором проседает, и пол идёт волнами. При высокой воде acqua alta его иногда заливает.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ВЕНЕЦИЯ  ·  Достопримечательность 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♛  Дворец дожей и Мост вздохов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Palazzo Ducale · с IX в., готика 1340–1424 · Ponte dei Sospiri 1602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Стиль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венецианская готика, белый и розовый веронский мрамор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Зал Большого совета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53 × 25 м — крупнейшая зала Европы того времени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Тинторетто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«Рай», 22×7 м — крупнейшая картина маслом в мире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Тюрьма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Piombi (под крышей) и Pozzi (под водой)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Мост вздохов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Антонио Контино, 1602, белый истрийский камень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Дворец дожей был резиденцией главы Венецианской республики, парламентом, верховным судом и тюрьмой одновременно. Готическая аркада на первых двух этажах опровергает все законы — массивная стена «парит» над лёгкими колоннами. Капитель за углом, у моря, изображает Адама и Еву — самая старая (XIV в.) и тонкая работа.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Внутри — Зал Большого совета, где собирались до 2000 нобилей. По периметру — 76 портретов дожей: один закрашен чёрным с надписью «Hic est locus Marini Faletro decapitati pro criminibus» — место казнённого за заговор Марино Фальеро (1355). На потолке — гигантский «Рай» Тинторетто и «Триумф Венеции» Веронезе.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Мост вздохов соединяет дворец с тюрьмой Prigioni Nuove: осуждённые шли по нему, бросая последний взгляд на свободу — отсюда название, придуманное Байроном. По этому мосту бежал из Пьомби в 1756 году Джакомо Казанова — единственный за всю историю успешный побег из венецианской тюрьмы.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На фасаде со стороны Пьяццетты — две красные колонны. Между ними публично казнили преступников; до сих пор венецианцы из суеверия избегают проходить именно между ними.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ВЕНЕЦИЯ  ·  Достопримечательность 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↑  Кампанила Сан-Марко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Campanile di San Marco · X в., воссоздана в 1912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Высота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98,6 м — самое высокое здание Венеции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Фундамент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сваи в иле, без свай-«венецианский лес»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Пять колоколов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у каждого своё имя и функция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Лоджетта внизу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Якопо Сансовино, 1538–1546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Лифт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с 1962 — без подъёма по ступеням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Кампанила служила сразу маяком, дозорной вышкой и колокольней. Колокола подавали разные сигналы городу: «marangona» — начало и конец рабочего дня, «trottiera» — сбор сенаторов на заседание, «nona» — полдень, «mezza terza» — открытие судов, «malefico» — казнь.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1609 году Галилео Галилей привёл сюда дожа Леонардо Дона и продемонстрировал свой только что усовершенствованный телескоп — Сенат повысил ему жалование и пожизненно закрепил кафедру в Падуе.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14 июля 1902 года, без жертв, кампанила обрушилась — за неделю до этого в стенах появились трещины, и площадь успели огородить. Совет города в тот же день постановил: «com’era, dov’era» — «как была, где была». Восстановление закончили в апреле 1912 года к тысячелетию первой постройки.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Перед обрушением 1902 года кампанилу спасал реставратор Пьетро Сальяна — но за 50 минут до катастрофы он спустился на обед. Из-под завалов потом достали единственного «пострадавшего»: смотрительского кота.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ВЕНЕЦИЯ  ·  Достопримечательность 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⚓  Гондола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Gondola · традиционная лодка с XI века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Размеры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10,87 м длина, 1,42 м ширина, 700 кг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Конструкция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8 пород дерева, 280 деталей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Асимметрия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левый борт на 24 см длиннее — компенсация одного гребца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Ferro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6 зубцов = 6 районов (sestiere) Венеции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Статус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сегодня лицензий ~425; первая женщина-гондольер — 2010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Слово «gondola» впервые упоминается в документе 1094 года. К XVII веку их было около 10 000 — личным транспортом каждой состоятельной семьи. Чтобы прекратить хвастовство роскошью, в 1562 году Сенат предписал красить все гондолы исключительно в чёрный цвет. С тех пор это правило не нарушалось.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Современная гондола формировалась веками: только в XIX веке мастер Доменико Транкуилло Фриулани добавил выраженную асимметрию корпуса — гондольер гребёт только справа стоя, и правильный наклон лодки сам компенсирует прямой ход. Сложная двоемордая форма ferro (носового украшения) объединяет головной убор дожа сверху и шесть гребней — символы шести районов города.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Лицензию гондольера получают по экзамену с 50–100 кандидатами на место: история города, навигация в каналах, английский, иногда японский. Одни и те же семьи занимаются этим веками — отсюда и стоимость прогулки. Стандарт: 30 минут — €90 (днём), €110 (после 19:00) за лодку до 5 человек.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Squero di San Trovaso в Дорсодуро — последняя действующая верфь, где гондолы строят традиционным способом. Туда можно прийти посмотреть, как мастер вручную «изгибает» левый борт горящим тростником.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ВЕНЕЦИЯ  ·  Достопримечательность 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✶  Мурано — остров стекла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Murano · с XIII в. — мировая столица стеклоделия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От Сан-Марко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вапоретто №4.1 / №4.2, ~25 минут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Перенос мастерских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1291 — указ Сената, ради защиты от пожаров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Базилика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Санти-Мария-э-Донато, XII в., мозаичный пол 1140 г.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Музей стекла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Museo del Vetro, € 10, в Палаццо Джустиниан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Знаменито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millefiori, латтимо, авентурин, муранские люстры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Венеция была деревянным городом, а печи стеклоделов — постоянной угрозой пожара. В 1291 году Сенат постановил перенести все мастерские на остров Мурано. Стеклодувы получили привилегии аристократии: дочери могли выходить за дворян, а дети мастеров наследовали фамилию.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Но был и обратный эффект — за разглашение секретов мастерства полагалась смерть. Тех, кто всё же бежал во Францию или Богемию, тайно настигали посланцы Совета десяти. Так Венеция почти 400 лет удерживала монополию: цветное стекло, прозрачное cristallo, авантюрин с золотыми искрами, технику millefiori.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Сегодня на острове ~200 мастерских — по-настоящему ручную работу легко отличить от китайских подделок: ищите наклейку «Vetro Artistico Murano» с коллективным товарным знаком и подпись маэстро. Базилика Санти-Мария-э-Донато XII века скрывает один из самых красивых мозаичных полов Италии — ровесника Сан-Марко.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Хранители костей дракона: за алтарём базилики Сан-Донато выставлены четыре огромных «драконьих ребра», которые, по преданию, святой Донат привёз из Малой Азии. На самом деле — кости доисторического кита.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ВЕНЕЦИЯ  ·  Достопримечательность 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✿  Бурано — остров кружев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Burano · поселение с VI века · кружевная столица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Расположение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лагуна, 7 км от Венеции, 40 минут вапоретто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Население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~2 800 человек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Дома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разноцветные, по строгому реестру цветов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Кружево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punto in aria, с XVI века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Достопримечательность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падающая колокольня Сан-Мартино, XVI в.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Бурано основали жители материка, бежавшие в лагуну от лангобардских нашествий VI века. Пока Венеция богатела на торговле, на Бурано развились два промысла: рыбная ловля и кружевоплетение «punto in aria» («стежок в воздухе») — без подложки.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XVI веке буранское кружево стало визитной карточкой европейских аристократок — Екатерина Медичи, Елизавета Английская и Людовик XIV заказывали манжеты только отсюда. К XX веку ремесло почти умерло; в 1981 году муниципалитет открыл Музей кружева, чтобы сохранить технику.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Знаменитые цветные домики — не туристический ход: рыбаки красили дома в яркие тона, чтобы видеть свою улицу в утреннем тумане лагуны. Цвет каждого дома закреплён за хозяином: чтобы перекрасить, нужно подать заявление в коммуну и получить три согласованных варианта.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Колокольня Сан-Мартино — местная Пизанская: отклонение около 1,83 м. Её ставили на свайном фундаменте, который начал крениться почти сразу после постройки.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ВЕНЕЦИЯ  ·  Достопримечательность 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✟  Санта-Мария делла Салюте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Basilica di Santa Maria della Salute · 1631–1687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Архитектор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Бальдассаре Лонгена (ему было 26 лет)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Стиль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венецианское барокко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План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8-угольник с большим и малым куполами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Свайный фундамент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1 156 627 деревянных свай в иле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Картины ризницы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Тициан, Тинторетто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 1630–1631 годах Венецию опустошила чума: погибло 46 000 человек — почти треть города. Сенат поклялся в обмен на избавление построить Богоматери великолепный храм. 22 октября 1630 года епископ выбрал место — оконечность Дорсодуро напротив Сан-Марко. Конкурс выиграл молодой Лонгена.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Чтобы поставить тяжёлый храм на топкую землю, в дно вбили более миллиона деревянных свай — лиственница из карстовых лесов веками не гниёт под водой. На этом «лесу» лежит каменное основание. Барочная сложность плана — два связанных восьмиугольника — потребовала революционных по тем временам инженерных решений.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Внутри — 12 крупных алтарных полотен, на алтаре — византийская икона «Madonna della Salute» XIII века. В ризнице — поздние работы Тициана («Давид и Голиаф», «Каин и Авель», «Жертвоприношение Авраама») и «Брак в Кане» Тинторетто. Каждое 21 ноября от Сан-Марко до Салюте перекидывают понтонный мост — праздник Madonna della Salute.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Огромные «уши» по периметру храма — на самом деле не декорация, а контрфорсы-завитки (volute), которые Лонгена замаскировал в волну барокко. Они держат гигантский купол.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AF3DC"/>
                </a:solidFill>
                <a:latin typeface="Calibri"/>
              </a:rPr>
              <a:t>ВЕНЕЦИЯ  ·  Достопримечательность 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15568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◈  Венецианская Биеннале — Arte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AF3DC"/>
                </a:solidFill>
                <a:latin typeface="Calibri"/>
              </a:rPr>
              <a:t>La Biennale di Venezia · 61-я Международная выставка искусства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402336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023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📋  Кратко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86000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Год основания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51176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1895 — старейшая в мире биеннале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980944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53512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Локации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Giardini (с 1895) и Arsenale (с 1980)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75888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48456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Часы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вт–вс 11:00–19:00, пт–сб до 20:00; пн закрыто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370832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Билет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36008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€ 30 — единый, на 2 локации, действует 2 дня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65776"/>
            <a:ext cx="54864" cy="5577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3834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C9A227"/>
                </a:solidFill>
                <a:latin typeface="Calibri"/>
              </a:rPr>
              <a:t>Время визита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30952"/>
            <a:ext cx="3474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5–6 часов на обе площадки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694944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600200"/>
            <a:ext cx="6949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📖  Историческая справка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94560"/>
            <a:ext cx="630936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Первая Esposizione Internazionale d’Arte открылась 30 апреля 1895 года в честь 25-летия свадьбы короля Умберто I — городские власти искали способ оживить Венецию после её упадка как порта. С тех пор Биеннале проходит каждые два года и стала прообразом всех последующих биеннале мира — от Сан-Паулу до Стамбула.</a:t>
            </a:r>
          </a:p>
          <a:p>
            <a:pPr algn="just">
              <a:lnSpc>
                <a:spcPct val="118000"/>
              </a:lnSpc>
              <a:spcAft>
                <a:spcPts val="8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Главная локация — Giardini della Biennale, заложенные ещё Наполеоном в 1807-м. На 19 акрах работают 29 национальных павильонов, многие — архитектурные памятники сами по себе: австрийский Йозефа Хоффмана, голландский Геррита Ритвельда, скандинавский Сверре Фена, бразильский Энрико Темпеля, российский Алексея Щусева.</a:t>
            </a:r>
          </a:p>
          <a:p>
            <a:pPr algn="just">
              <a:lnSpc>
                <a:spcPct val="118000"/>
              </a:lnSpc>
            </a:pPr>
            <a:r>
              <a:rPr sz="1200" b="0" i="0">
                <a:solidFill>
                  <a:srgbClr val="2B2B2B"/>
                </a:solidFill>
                <a:latin typeface="Calibri"/>
              </a:rPr>
              <a:t>Вторая локация — Arsenale, бывшая судостроительная верфь Венецианской республики (с XII в.), некогда — крупнейший промышленный комплекс Европы, где собирали по галере в день. С 1980 года длинные кирпичные галереи Корерие и Гаджандре отданы кураторской выставке и павильонам стран без своего здания. 61-я Arte 2026 продлится с апреля по ноябрь — июнь идеален: уже всё открыто, а толпы пика сентября ещё впереди.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4415" cy="548640"/>
          </a:xfrm>
          <a:prstGeom prst="roundRect">
            <a:avLst>
              <a:gd name="adj" fmla="val 30000"/>
            </a:avLst>
          </a:prstGeom>
          <a:solidFill>
            <a:srgbClr val="FAF3DC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💡  Любопытно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989320"/>
            <a:ext cx="958565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2B2B2B"/>
                </a:solidFill>
                <a:latin typeface="Calibri"/>
              </a:rPr>
              <a:t>Премии «Золотой лев» Биеннале вручают с 1949 года — сейчас существует пять номинаций. У России свой павильон с 1914 года; в разные годы там выступали Кандинский, Малевич, Кабаков, AES+F.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Сводная стоимость билетов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FAF3DC"/>
                </a:solidFill>
                <a:latin typeface="Calibri"/>
              </a:rPr>
              <a:t>Ориентировочно на двоих, в евро · бронировать заранее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6858000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6858000" cy="50292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6858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🎟  Достопримечательности (на двоих)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6675120" cy="256032"/>
          </a:xfrm>
          <a:prstGeom prst="rect">
            <a:avLst/>
          </a:prstGeom>
          <a:solidFill>
            <a:srgbClr val="E8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64008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B6E4F"/>
                </a:solidFill>
                <a:latin typeface="Calibri"/>
              </a:rPr>
              <a:t>РИМ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84832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Колизей + Форум + Палатин (combo)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084832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40864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Музеи Ватикана + Сикстинская капелла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340864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596896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Пантеон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596896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852928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Галерея Боргезе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852928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108960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Купол Св. Петра (по желанию)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08960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364992"/>
            <a:ext cx="6675120" cy="256032"/>
          </a:xfrm>
          <a:prstGeom prst="rect">
            <a:avLst/>
          </a:prstGeom>
          <a:solidFill>
            <a:srgbClr val="E8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364992"/>
            <a:ext cx="64008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B6E4F"/>
                </a:solidFill>
                <a:latin typeface="Calibri"/>
              </a:rPr>
              <a:t>ФЛОРЕНЦИЯ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621024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Галерея Уффици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621024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77056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Brunelleschi Pass (Дуомо)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877056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133088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Галерея Академии — Давид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133088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89120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Палаццо Питти + Боболи (комбо)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389120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€ 44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645152"/>
            <a:ext cx="6675120" cy="256032"/>
          </a:xfrm>
          <a:prstGeom prst="rect">
            <a:avLst/>
          </a:prstGeom>
          <a:solidFill>
            <a:srgbClr val="E8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645152"/>
            <a:ext cx="64008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B6E4F"/>
                </a:solidFill>
                <a:latin typeface="Calibri"/>
              </a:rPr>
              <a:t>ВЕНЕЦИЯ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901184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Биеннале Arte 2026 (Giardini + Arsenale)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4901184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157216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Дворец дожей + Сан-Марко skip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5157216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€ 72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413248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Кампанила Сан-Марко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5413248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669280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Гондола 30 мин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5669280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925312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Вапоретто 72h ×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5925312"/>
            <a:ext cx="118872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€ 90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9520" y="1280160"/>
            <a:ext cx="406908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3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0" y="1280160"/>
            <a:ext cx="4069080" cy="457200"/>
          </a:xfrm>
          <a:prstGeom prst="rect">
            <a:avLst/>
          </a:prstGeom>
          <a:solidFill>
            <a:srgbClr val="C8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9520" y="1280160"/>
            <a:ext cx="4069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🚄  Поезда Frecciarossa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1828800"/>
            <a:ext cx="2606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Roma → Firenze  (13.06, 11:50)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0" y="1828800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C83E36"/>
                </a:solidFill>
                <a:latin typeface="Calibri"/>
              </a:rPr>
              <a:t>от € 60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2194560"/>
            <a:ext cx="2606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Firenze → Venezia  (17.06, 11:25)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87000" y="2194560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C83E36"/>
                </a:solidFill>
                <a:latin typeface="Calibri"/>
              </a:rPr>
              <a:t>от € 70 / 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2560320"/>
            <a:ext cx="2606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Venezia → Roma  (19.06, 17:25)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87000" y="2560320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C83E36"/>
                </a:solidFill>
                <a:latin typeface="Calibri"/>
              </a:rPr>
              <a:t>от € 100 / 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2926080"/>
            <a:ext cx="2606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Leonardo Express FCO ⇄ Termini ×2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87000" y="2926080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1" i="0">
                <a:solidFill>
                  <a:srgbClr val="C83E36"/>
                </a:solidFill>
                <a:latin typeface="Calibri"/>
              </a:rPr>
              <a:t>€ 56 / 2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772400" y="3337560"/>
            <a:ext cx="3703320" cy="0"/>
          </a:xfrm>
          <a:prstGeom prst="line">
            <a:avLst/>
          </a:prstGeom>
          <a:ln w="9525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772400" y="3383280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 i="1">
                <a:solidFill>
                  <a:srgbClr val="2B2B2B"/>
                </a:solidFill>
                <a:latin typeface="Calibri"/>
              </a:rPr>
              <a:t>Итого по транспорту:  ~ € 286 на двоих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89520" y="3886200"/>
            <a:ext cx="4069080" cy="2331720"/>
          </a:xfrm>
          <a:prstGeom prst="roundRect">
            <a:avLst>
              <a:gd name="adj" fmla="val 4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89520" y="4023360"/>
            <a:ext cx="4069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3DC"/>
                </a:solidFill>
                <a:latin typeface="Calibri"/>
              </a:rPr>
              <a:t>ОРИЕНТИР ПО БИЛЕТАМ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89520" y="4434840"/>
            <a:ext cx="4069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Georgia"/>
              </a:rPr>
              <a:t>≈ € 960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5349240"/>
            <a:ext cx="4069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3DC"/>
                </a:solidFill>
                <a:latin typeface="Calibri"/>
              </a:rPr>
              <a:t>достопр. + транспорт на двоих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0" y="5715000"/>
            <a:ext cx="37033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1">
                <a:solidFill>
                  <a:srgbClr val="FAF3DC"/>
                </a:solidFill>
                <a:latin typeface="Calibri"/>
              </a:rPr>
              <a:t>* без авиабилетов, отелей и питания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4710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FAF3DC"/>
                </a:solidFill>
                <a:latin typeface="Calibri"/>
              </a:rPr>
              <a:t>Италия 2026  ·  Арсен &amp; Женечка  ·  07.06 — 20.06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20095" y="6547104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FAF3DC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